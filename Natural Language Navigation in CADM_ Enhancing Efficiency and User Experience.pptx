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10" Target="docProps/custom.xml" Type="http://schemas.openxmlformats.org/officeDocument/2006/relationships/custom-properties"/><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ppt/slideLayouts/slideLayout2.xml" Type="http://schemas.openxmlformats.org/officeDocument/2006/relationships/slideLayout"/><Relationship Id="rId6" Target="ppt/slideLayouts/slideLayout3.xml" Type="http://schemas.openxmlformats.org/officeDocument/2006/relationships/slideLayout"/><Relationship Id="rId7" Target="ppt/slideLayouts/slideLayout4.xml" Type="http://schemas.openxmlformats.org/officeDocument/2006/relationships/slideLayout"/><Relationship Id="rId8" Target="ppt/slideLayouts/slideLayout5.xml" Type="http://schemas.openxmlformats.org/officeDocument/2006/relationships/slideLayout"/><Relationship Id="rId9" Target="ppt/slideLayouts/slideLayout6.xml" Type="http://schemas.openxmlformats.org/officeDocument/2006/relationships/slideLayout"/></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4" d="100"/>
          <a:sy n="114" d="100"/>
        </p:scale>
        <p:origin x="91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TxTwoObj">
  <p:cSld name="标题和副标题">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版式">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rotWithShape="true">
          <a:blip r:embed="rId2"/>
          <a:stretch>
            <a:fillRect t="0" l="0" b="0" r="0"/>
          </a:stretch>
        </a:blip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2" Target="../theme/theme1.xml" Type="http://schemas.openxmlformats.org/officeDocument/2006/relationships/theme"/><Relationship Id="rId3" Target="../media/image1.png" Type="http://schemas.openxmlformats.org/officeDocument/2006/relationships/image"/><Relationship Id="rId4" Target="../slideLayouts/slideLayout2.xml" Type="http://schemas.openxmlformats.org/officeDocument/2006/relationships/slideLayout"/><Relationship Id="rId5" Target="../slideLayouts/slideLayout3.xml" Type="http://schemas.openxmlformats.org/officeDocument/2006/relationships/slideLayout"/><Relationship Id="rId6" Target="../slideLayouts/slideLayout4.xml" Type="http://schemas.openxmlformats.org/officeDocument/2006/relationships/slideLayout"/><Relationship Id="rId7" Target="../slideLayouts/slideLayout5.xml" Type="http://schemas.openxmlformats.org/officeDocument/2006/relationships/slideLayout"/><Relationship Id="rId8" Target="../slideLayouts/slideLayout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true">
          <a:blip r:embed="rId3"/>
          <a:stretch>
            <a:fillRect t="0" l="0" b="0" r="0"/>
          </a:stretch>
        </a:blipFill>
      </p:bgPr>
    </p:bg>
    <p:spTree>
      <p:nvGrpSpPr>
        <p:cNvPr id="1" name=""/>
        <p:cNvGrpSpPr/>
        <p:nvPr/>
      </p:nvGrpSpPr>
      <p:grpSpPr>
        <a:xfrm>
          <a:off x="0" y="0"/>
          <a:ext cx="0" cy="0"/>
          <a:chOff x="0" y="0"/>
          <a:chExt cx="0" cy="0"/>
        </a:xfrm>
      </p:grpSpPr>
      <p:sp>
        <p:nvSpPr>
          <p:cNvPr name="AutoShape 2" id="2" hidden="true"/>
          <p:cNvSpPr/>
          <p:nvPr/>
        </p:nvSpPr>
        <p:spPr>
          <a:xfrm>
            <a:off x="0" y="0"/>
            <a:ext cx="0" cy="0"/>
          </a:xfrm>
          <a:prstGeom prst="rect">
            <a:avLst/>
          </a:prstGeom>
          <a:solidFill>
            <a:schemeClr val="accent1"/>
          </a:solidFill>
          <a:ln w="12700" cap="flat" cmpd="sng">
            <a:solidFill>
              <a:schemeClr val="accent1">
                <a:shade val="50000"/>
              </a:schemeClr>
            </a:solidFill>
            <a:prstDash val="solid"/>
          </a:ln>
        </p:spPr>
        <p:txBody>
          <a:bodyPr vert="horz" anchor="ctr" tIns="45720" lIns="91440" bIns="45720" rIns="91440"/>
          <a:p>
            <a:pPr algn="ctr" marL="0"/>
          </a:p>
        </p:txBody>
      </p:sp>
    </p:spTree>
  </p:cSld>
  <p:clrMap bg1="lt1" tx1="dk1" bg2="lt2" tx2="dk2" accent1="accent1" accent2="accent2" accent3="accent3" accent4="accent4" accent5="accent5" accent6="accent6" hlink="hlink" folHlink="folHlink"/>
  <p:sldLayoutIdLst>
    <p:sldLayoutId id="2147483655" r:id="rId1"/>
    <p:sldLayoutId id="2147483656" r:id="rId4"/>
    <p:sldLayoutId id="2147483657" r:id="rId5"/>
    <p:sldLayoutId id="2147483658" r:id="rId6"/>
    <p:sldLayoutId id="2147483659" r:id="rId7"/>
    <p:sldLayoutId id="2147483660"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1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4.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15.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3.xml" Type="http://schemas.openxmlformats.org/officeDocument/2006/relationships/slideLayout"/><Relationship Id="rId2" Target="../media/image16.jpeg" Type="http://schemas.openxmlformats.org/officeDocument/2006/relationships/image"/><Relationship Id="rId3" Target="../media/image1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xml" Type="http://schemas.openxmlformats.org/officeDocument/2006/relationships/slideLayout"/><Relationship Id="rId2" Target="../media/image18.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a:off x="323850" y="1554480"/>
            <a:ext cx="6749415" cy="1960880"/>
          </a:xfrm>
          <a:prstGeom prst="rect">
            <a:avLst/>
          </a:prstGeom>
          <a:noFill/>
        </p:spPr>
        <p:txBody>
          <a:bodyPr anchor="ctr" rtlCol="false" vert="horz" wrap="square" tIns="0" lIns="0" bIns="0" rIns="0">
            <a:noAutofit/>
          </a:bodyPr>
          <a:lstStyle/>
          <a:p>
            <a:pPr algn="l" fontAlgn="auto" indent="0" marL="0">
              <a:lnSpc>
                <a:spcPct val="110000"/>
              </a:lnSpc>
              <a:defRPr/>
            </a:pPr>
            <a:r>
              <a:rPr lang="en-US" b="true" i="false" sz="5000" spc="200" baseline="0" u="none">
                <a:solidFill>
                  <a:srgbClr val="007C99"/>
                </a:solidFill>
                <a:latin typeface="思源黑体 Medium"/>
                <a:ea typeface="思源黑体 Medium"/>
              </a:rPr>
              <a:t>Natural Language Navigation in CADM: Enhancing Efficiency and User Experience</a:t>
            </a:r>
            <a:endParaRPr lang="en-US" sz="1100"/>
          </a:p>
        </p:txBody>
      </p:sp>
      <p:grpSp>
        <p:nvGrpSpPr>
          <p:cNvPr name="Group 3" id="3"/>
          <p:cNvGrpSpPr/>
          <p:nvPr/>
        </p:nvGrpSpPr>
        <p:grpSpPr>
          <a:xfrm>
            <a:off x="382270" y="5510530"/>
            <a:ext cx="5766435" cy="368300"/>
            <a:chOff x="2212" y="7647"/>
            <a:chExt cx="9081" cy="580"/>
          </a:xfrm>
        </p:grpSpPr>
        <p:sp>
          <p:nvSpPr>
            <p:cNvPr name="TextBox 4" id="4"/>
            <p:cNvSpPr txBox="true"/>
            <p:nvPr/>
          </p:nvSpPr>
          <p:spPr>
            <a:xfrm>
              <a:off x="2625" y="7647"/>
              <a:ext cx="4388" cy="580"/>
            </a:xfrm>
            <a:prstGeom prst="rect">
              <a:avLst/>
            </a:prstGeom>
            <a:noFill/>
          </p:spPr>
          <p:txBody>
            <a:bodyPr anchor="ctr" rtlCol="false" vert="horz" wrap="square" tIns="45720" lIns="91440" bIns="45720" rIns="91440">
              <a:noAutofit/>
            </a:bodyPr>
            <a:lstStyle/>
            <a:p>
              <a:pPr algn="l" marL="0">
                <a:defRPr/>
              </a:pPr>
              <a:r>
                <a:rPr lang="en-US" b="false" i="false" sz="1800" baseline="0" u="none">
                  <a:solidFill>
                    <a:srgbClr val="2F2F2F"/>
                  </a:solidFill>
                  <a:latin typeface="思源黑体 Normal"/>
                  <a:ea typeface="思源黑体 Normal"/>
                </a:rPr>
                <a:t>Reporter:</a:t>
              </a:r>
              <a:r>
                <a:rPr lang="en-US" b="false" i="false" sz="1800" baseline="0" u="none">
                  <a:solidFill>
                    <a:srgbClr val="2F2F2F"/>
                  </a:solidFill>
                  <a:latin typeface="思源黑体 Normal"/>
                  <a:ea typeface="思源黑体 Normal"/>
                </a:rPr>
                <a:t>XXX</a:t>
              </a:r>
              <a:endParaRPr lang="en-US" sz="1100"/>
            </a:p>
          </p:txBody>
        </p:sp>
        <p:sp>
          <p:nvSpPr>
            <p:cNvPr name="AutoShape 5" id="5"/>
            <p:cNvSpPr/>
            <p:nvPr/>
          </p:nvSpPr>
          <p:spPr>
            <a:xfrm>
              <a:off x="6684" y="7647"/>
              <a:ext cx="4609" cy="580"/>
            </a:xfrm>
            <a:prstGeom prst="rect">
              <a:avLst/>
            </a:prstGeom>
            <a:noFill/>
          </p:spPr>
          <p:txBody>
            <a:bodyPr vert="horz" anchor="ctr" wrap="square" tIns="45720" lIns="91440" bIns="45720" rIns="91440">
              <a:noAutofit/>
            </a:bodyPr>
            <a:p>
              <a:pPr algn="l" marL="0"/>
              <a:r>
                <a:rPr lang="en-US" b="false" i="false" sz="1800" baseline="0" u="none">
                  <a:solidFill>
                    <a:srgbClr val="2F2F2F"/>
                  </a:solidFill>
                  <a:latin typeface="思源黑体 Normal"/>
                  <a:ea typeface="思源黑体 Normal"/>
                </a:rPr>
                <a:t>Date:</a:t>
              </a:r>
              <a:r>
                <a:rPr lang="en-US" b="false" i="false" sz="1800" baseline="0" u="none">
                  <a:solidFill>
                    <a:srgbClr val="2F2F2F"/>
                  </a:solidFill>
                  <a:latin typeface="思源黑体 Normal"/>
                  <a:ea typeface="思源黑体 Normal"/>
                </a:rPr>
                <a:t>20XX-</a:t>
              </a:r>
              <a:r>
                <a:rPr lang="en-US" b="false" i="false" sz="1800" baseline="0" u="none">
                  <a:solidFill>
                    <a:srgbClr val="2F2F2F"/>
                  </a:solidFill>
                  <a:latin typeface="思源黑体 Normal"/>
                  <a:ea typeface="思源黑体 Normal"/>
                </a:rPr>
                <a:t>XX-XX</a:t>
              </a:r>
            </a:p>
          </p:txBody>
        </p:sp>
        <p:sp>
          <p:nvSpPr>
            <p:cNvPr name="AutoShape 6" id="6"/>
            <p:cNvSpPr/>
            <p:nvPr/>
          </p:nvSpPr>
          <p:spPr>
            <a:xfrm>
              <a:off x="2212" y="7731"/>
              <a:ext cx="413" cy="413"/>
            </a:xfrm>
            <a:prstGeom prst="ellipse">
              <a:avLst/>
            </a:prstGeom>
            <a:solidFill>
              <a:srgbClr val="007C99"/>
            </a:solidFill>
            <a:ln>
              <a:noFill/>
            </a:ln>
          </p:spPr>
          <p:txBody>
            <a:bodyPr vert="horz" anchor="ctr" tIns="45720" lIns="91440" bIns="45720" rIns="91440"/>
            <a:p>
              <a:pPr algn="ctr" marL="0"/>
            </a:p>
          </p:txBody>
        </p:sp>
        <p:sp>
          <p:nvSpPr>
            <p:cNvPr name="AutoShape 7" id="7"/>
            <p:cNvSpPr/>
            <p:nvPr/>
          </p:nvSpPr>
          <p:spPr>
            <a:xfrm>
              <a:off x="6288" y="7731"/>
              <a:ext cx="413" cy="413"/>
            </a:xfrm>
            <a:prstGeom prst="ellipse">
              <a:avLst/>
            </a:prstGeom>
            <a:solidFill>
              <a:srgbClr val="007C99"/>
            </a:solidFill>
            <a:ln>
              <a:noFill/>
            </a:ln>
          </p:spPr>
          <p:txBody>
            <a:bodyPr vert="horz" anchor="ctr" tIns="45720" lIns="91440" bIns="45720" rIns="91440"/>
            <a:p>
              <a:pPr algn="ctr" marL="0"/>
            </a:p>
          </p:txBody>
        </p:sp>
      </p:grpSp>
      <p:cxnSp>
        <p:nvCxnSpPr>
          <p:cNvPr name="Connector 8" id="8"/>
          <p:cNvCxnSpPr/>
          <p:nvPr/>
        </p:nvCxnSpPr>
        <p:spPr>
          <a:xfrm>
            <a:off x="390525" y="4316095"/>
            <a:ext cx="6342380" cy="0"/>
          </a:xfrm>
          <a:prstGeom prst="line">
            <a:avLst/>
          </a:prstGeom>
          <a:ln w="9525">
            <a:solidFill>
              <a:srgbClr val="007C99"/>
            </a:solidFill>
          </a:ln>
        </p:spPr>
      </p:cxnSp>
      <p:sp>
        <p:nvSpPr>
          <p:cNvPr name="AutoShape 9" id="9"/>
          <p:cNvSpPr/>
          <p:nvPr/>
        </p:nvSpPr>
        <p:spPr>
          <a:xfrm>
            <a:off x="382270" y="132080"/>
            <a:ext cx="1627505" cy="444500"/>
          </a:xfrm>
          <a:prstGeom prst="snip2DiagRect">
            <a:avLst/>
          </a:prstGeom>
          <a:solidFill>
            <a:srgbClr val="007C99"/>
          </a:solidFill>
          <a:ln w="19050">
            <a:solidFill>
              <a:srgbClr val="007C99"/>
            </a:solidFill>
          </a:ln>
        </p:spPr>
        <p:txBody>
          <a:bodyPr vert="horz" anchor="ctr" tIns="45720" lIns="91440" bIns="45720" rIns="91440"/>
          <a:p>
            <a:pPr algn="l" marL="0"/>
            <a:r>
              <a:rPr lang="en-US" b="true" i="false" sz="1800" baseline="0" u="none">
                <a:solidFill>
                  <a:schemeClr val="bg1"/>
                </a:solidFill>
                <a:latin typeface="思源黑体 Medium"/>
                <a:ea typeface="思源黑体 Medium"/>
              </a:rPr>
              <a:t>YOUR LOGO</a:t>
            </a:r>
          </a:p>
        </p:txBody>
      </p:sp>
      <p:pic>
        <p:nvPicPr>
          <p:cNvPr name="image3.png" id="10"/>
          <p:cNvPicPr>
            <a:picLocks noChangeAspect="true"/>
          </p:cNvPicPr>
          <p:nvPr/>
        </p:nvPicPr>
        <p:blipFill>
          <a:blip r:embed="rId3"/>
          <a:stretch>
            <a:fillRect t="0" l="0" b="0" r="0"/>
          </a:stretch>
        </p:blipFill>
        <p:spPr>
          <a:xfrm>
            <a:off x="11499215" y="5161280"/>
            <a:ext cx="473075" cy="1536700"/>
          </a:xfrm>
          <a:prstGeom prst="rect">
            <a:avLst/>
          </a:prstGeom>
        </p:spPr>
      </p:pic>
      <p:sp>
        <p:nvSpPr>
          <p:cNvPr name="AutoShape 11" id="11"/>
          <p:cNvSpPr/>
          <p:nvPr/>
        </p:nvSpPr>
        <p:spPr>
          <a:xfrm>
            <a:off x="10795000" y="6540500"/>
            <a:ext cx="1270000" cy="190500"/>
          </a:xfrm>
          <a:prstGeom prst="rect">
            <a:avLst/>
          </a:prstGeom>
          <a:solidFill>
            <a:srgbClr val="000000">
              <a:alpha val="0"/>
            </a:srgbClr>
          </a:solidFill>
        </p:spPr>
        <p:txBody>
          <a:bodyPr anchor="t" rtlCol="false"/>
          <a:lstStyle/>
          <a:p>
            <a:pPr algn="r">
              <a:defRPr/>
            </a:pPr>
            <a:r>
              <a:rPr lang="en-US" b="false" i="false" sz="800" baseline="0" u="none">
                <a:solidFill>
                  <a:srgbClr val="808080"/>
                </a:solidFill>
                <a:latin typeface="Microsoft YaHei"/>
                <a:ea typeface="Microsoft YaHei"/>
              </a:rPr>
              <a:t>Created By AI</a:t>
            </a:r>
            <a:endParaRPr lang="en-US" sz="1100"/>
          </a:p>
        </p:txBody>
      </p:sp>
    </p:spTree>
  </p:cSld>
  <p:clrMapOvr>
    <a:masterClrMapping/>
  </p:clrMapOvr>
  <p:transition spd="fast" advClick="false"/>
</p:sld>
</file>

<file path=ppt/slides/slide2.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1000" b="0" r="-2000"/>
          </a:stretch>
        </a:blipFill>
      </p:bgPr>
    </p:bg>
    <p:spTree>
      <p:nvGrpSpPr>
        <p:cNvPr id="1" name=""/>
        <p:cNvGrpSpPr/>
        <p:nvPr/>
      </p:nvGrpSpPr>
      <p:grpSpPr>
        <a:xfrm>
          <a:off x="0" y="0"/>
          <a:ext cx="0" cy="0"/>
          <a:chOff x="0" y="0"/>
          <a:chExt cx="0" cy="0"/>
        </a:xfrm>
      </p:grpSpPr>
      <p:sp>
        <p:nvSpPr>
          <p:cNvPr name="Freeform 2" id="2"/>
          <p:cNvSpPr/>
          <p:nvPr/>
        </p:nvSpPr>
        <p:spPr>
          <a:xfrm>
            <a:off x="6596380" y="4468495"/>
            <a:ext cx="1174750" cy="67437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3" id="3"/>
          <p:cNvSpPr/>
          <p:nvPr/>
        </p:nvSpPr>
        <p:spPr>
          <a:xfrm>
            <a:off x="6219825" y="446913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4" id="4"/>
          <p:cNvSpPr/>
          <p:nvPr/>
        </p:nvSpPr>
        <p:spPr>
          <a:xfrm>
            <a:off x="6219825" y="5142230"/>
            <a:ext cx="5447665" cy="109855"/>
          </a:xfrm>
          <a:prstGeom prst="rect">
            <a:avLst/>
          </a:prstGeom>
          <a:solidFill>
            <a:srgbClr val="5EACC1"/>
          </a:solidFill>
          <a:ln>
            <a:noFill/>
          </a:ln>
        </p:spPr>
        <p:txBody>
          <a:bodyPr vert="horz" anchor="ctr" tIns="45720" lIns="91440" bIns="45720" rIns="91440">
            <a:noAutofit/>
          </a:bodyPr>
          <a:p>
            <a:pPr algn="ctr" marL="0"/>
          </a:p>
        </p:txBody>
      </p:sp>
      <p:sp>
        <p:nvSpPr>
          <p:cNvPr name="TextBox 5" id="5"/>
          <p:cNvSpPr txBox="true"/>
          <p:nvPr/>
        </p:nvSpPr>
        <p:spPr>
          <a:xfrm>
            <a:off x="7898765" y="4182110"/>
            <a:ext cx="3763010" cy="928370"/>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Advanced Enhancements and Future Capabilities</a:t>
            </a:r>
            <a:endParaRPr lang="en-US" sz="1100"/>
          </a:p>
        </p:txBody>
      </p:sp>
      <p:sp>
        <p:nvSpPr>
          <p:cNvPr name="TextBox 6" id="6"/>
          <p:cNvSpPr txBox="true"/>
          <p:nvPr/>
        </p:nvSpPr>
        <p:spPr>
          <a:xfrm>
            <a:off x="6360160" y="4496435"/>
            <a:ext cx="918210" cy="645160"/>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06</a:t>
            </a:r>
            <a:endParaRPr lang="en-US" sz="1100"/>
          </a:p>
        </p:txBody>
      </p:sp>
      <p:sp>
        <p:nvSpPr>
          <p:cNvPr name="Freeform 7" id="7"/>
          <p:cNvSpPr/>
          <p:nvPr/>
        </p:nvSpPr>
        <p:spPr>
          <a:xfrm>
            <a:off x="838200" y="4469130"/>
            <a:ext cx="1174750" cy="673735"/>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8" id="8"/>
          <p:cNvSpPr/>
          <p:nvPr/>
        </p:nvSpPr>
        <p:spPr>
          <a:xfrm>
            <a:off x="461645" y="446913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9" id="9"/>
          <p:cNvSpPr/>
          <p:nvPr/>
        </p:nvSpPr>
        <p:spPr>
          <a:xfrm>
            <a:off x="461645" y="5142230"/>
            <a:ext cx="5488940" cy="109855"/>
          </a:xfrm>
          <a:prstGeom prst="rect">
            <a:avLst/>
          </a:prstGeom>
          <a:solidFill>
            <a:srgbClr val="5EACC1"/>
          </a:solidFill>
          <a:ln>
            <a:noFill/>
          </a:ln>
        </p:spPr>
        <p:txBody>
          <a:bodyPr vert="horz" anchor="ctr" tIns="45720" lIns="91440" bIns="45720" rIns="91440">
            <a:noAutofit/>
          </a:bodyPr>
          <a:p>
            <a:pPr algn="ctr" marL="0"/>
          </a:p>
        </p:txBody>
      </p:sp>
      <p:sp>
        <p:nvSpPr>
          <p:cNvPr name="TextBox 10" id="10"/>
          <p:cNvSpPr txBox="true"/>
          <p:nvPr/>
        </p:nvSpPr>
        <p:spPr>
          <a:xfrm>
            <a:off x="2140585" y="4182110"/>
            <a:ext cx="3763010" cy="928370"/>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Security and Compliance Considerations</a:t>
            </a:r>
            <a:endParaRPr lang="en-US" sz="1100"/>
          </a:p>
        </p:txBody>
      </p:sp>
      <p:sp>
        <p:nvSpPr>
          <p:cNvPr name="TextBox 11" id="11"/>
          <p:cNvSpPr txBox="true"/>
          <p:nvPr/>
        </p:nvSpPr>
        <p:spPr>
          <a:xfrm>
            <a:off x="601980" y="4496435"/>
            <a:ext cx="918210" cy="645160"/>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05</a:t>
            </a:r>
            <a:endParaRPr lang="en-US" sz="1100"/>
          </a:p>
        </p:txBody>
      </p:sp>
      <p:sp>
        <p:nvSpPr>
          <p:cNvPr name="Freeform 12" id="12"/>
          <p:cNvSpPr/>
          <p:nvPr/>
        </p:nvSpPr>
        <p:spPr>
          <a:xfrm>
            <a:off x="6596380" y="3268980"/>
            <a:ext cx="1174750" cy="672465"/>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13" id="13"/>
          <p:cNvSpPr/>
          <p:nvPr/>
        </p:nvSpPr>
        <p:spPr>
          <a:xfrm>
            <a:off x="6219825" y="326898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14" id="14"/>
          <p:cNvSpPr/>
          <p:nvPr/>
        </p:nvSpPr>
        <p:spPr>
          <a:xfrm>
            <a:off x="6219825" y="3941445"/>
            <a:ext cx="5488940" cy="130810"/>
          </a:xfrm>
          <a:prstGeom prst="rect">
            <a:avLst/>
          </a:prstGeom>
          <a:solidFill>
            <a:srgbClr val="5EACC1"/>
          </a:solidFill>
          <a:ln>
            <a:noFill/>
          </a:ln>
        </p:spPr>
        <p:txBody>
          <a:bodyPr vert="horz" anchor="ctr" tIns="45720" lIns="91440" bIns="45720" rIns="91440">
            <a:noAutofit/>
          </a:bodyPr>
          <a:p>
            <a:pPr algn="ctr" marL="0"/>
          </a:p>
        </p:txBody>
      </p:sp>
      <p:sp>
        <p:nvSpPr>
          <p:cNvPr name="TextBox 15" id="15"/>
          <p:cNvSpPr txBox="true"/>
          <p:nvPr/>
        </p:nvSpPr>
        <p:spPr>
          <a:xfrm>
            <a:off x="7898765" y="2981960"/>
            <a:ext cx="3763010" cy="927735"/>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Connecting NLN to CADM Modules</a:t>
            </a:r>
            <a:endParaRPr lang="en-US" sz="1100"/>
          </a:p>
        </p:txBody>
      </p:sp>
      <p:sp>
        <p:nvSpPr>
          <p:cNvPr name="TextBox 16" id="16"/>
          <p:cNvSpPr txBox="true"/>
          <p:nvPr/>
        </p:nvSpPr>
        <p:spPr>
          <a:xfrm>
            <a:off x="6360160" y="3296285"/>
            <a:ext cx="918210" cy="644525"/>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04</a:t>
            </a:r>
            <a:endParaRPr lang="en-US" sz="1100"/>
          </a:p>
        </p:txBody>
      </p:sp>
      <p:sp>
        <p:nvSpPr>
          <p:cNvPr name="Freeform 17" id="17"/>
          <p:cNvSpPr/>
          <p:nvPr/>
        </p:nvSpPr>
        <p:spPr>
          <a:xfrm>
            <a:off x="6596380" y="2021205"/>
            <a:ext cx="1174750" cy="67437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18" id="18"/>
          <p:cNvSpPr/>
          <p:nvPr/>
        </p:nvSpPr>
        <p:spPr>
          <a:xfrm>
            <a:off x="6219825" y="202184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19" id="19"/>
          <p:cNvSpPr/>
          <p:nvPr/>
        </p:nvSpPr>
        <p:spPr>
          <a:xfrm>
            <a:off x="6219825" y="2685415"/>
            <a:ext cx="5488940" cy="119380"/>
          </a:xfrm>
          <a:prstGeom prst="rect">
            <a:avLst/>
          </a:prstGeom>
          <a:solidFill>
            <a:srgbClr val="5EACC1"/>
          </a:solidFill>
          <a:ln>
            <a:noFill/>
          </a:ln>
        </p:spPr>
        <p:txBody>
          <a:bodyPr vert="horz" anchor="ctr" tIns="45720" lIns="91440" bIns="45720" rIns="91440">
            <a:noAutofit/>
          </a:bodyPr>
          <a:p>
            <a:pPr algn="ctr" marL="0"/>
          </a:p>
        </p:txBody>
      </p:sp>
      <p:sp>
        <p:nvSpPr>
          <p:cNvPr name="TextBox 20" id="20"/>
          <p:cNvSpPr txBox="true"/>
          <p:nvPr/>
        </p:nvSpPr>
        <p:spPr>
          <a:xfrm>
            <a:off x="7942580" y="1781810"/>
            <a:ext cx="3763010" cy="926465"/>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Current CADM System Architecture</a:t>
            </a:r>
            <a:endParaRPr lang="en-US" sz="1100"/>
          </a:p>
        </p:txBody>
      </p:sp>
      <p:sp>
        <p:nvSpPr>
          <p:cNvPr name="TextBox 21" id="21"/>
          <p:cNvSpPr txBox="true"/>
          <p:nvPr/>
        </p:nvSpPr>
        <p:spPr>
          <a:xfrm>
            <a:off x="6360160" y="2049145"/>
            <a:ext cx="918210" cy="645160"/>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02</a:t>
            </a:r>
            <a:endParaRPr lang="en-US" sz="1100"/>
          </a:p>
        </p:txBody>
      </p:sp>
      <p:sp>
        <p:nvSpPr>
          <p:cNvPr name="Freeform 22" id="22"/>
          <p:cNvSpPr/>
          <p:nvPr/>
        </p:nvSpPr>
        <p:spPr>
          <a:xfrm>
            <a:off x="838200" y="3268980"/>
            <a:ext cx="1174750" cy="673735"/>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23" id="23"/>
          <p:cNvSpPr/>
          <p:nvPr/>
        </p:nvSpPr>
        <p:spPr>
          <a:xfrm>
            <a:off x="461645" y="326898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24" id="24"/>
          <p:cNvSpPr/>
          <p:nvPr/>
        </p:nvSpPr>
        <p:spPr>
          <a:xfrm>
            <a:off x="461645" y="3942080"/>
            <a:ext cx="5488940" cy="109855"/>
          </a:xfrm>
          <a:prstGeom prst="rect">
            <a:avLst/>
          </a:prstGeom>
          <a:solidFill>
            <a:srgbClr val="5EACC1"/>
          </a:solidFill>
          <a:ln>
            <a:noFill/>
          </a:ln>
        </p:spPr>
        <p:txBody>
          <a:bodyPr vert="horz" anchor="ctr" tIns="45720" lIns="91440" bIns="45720" rIns="91440">
            <a:noAutofit/>
          </a:bodyPr>
          <a:p>
            <a:pPr algn="ctr" marL="0"/>
          </a:p>
        </p:txBody>
      </p:sp>
      <p:sp>
        <p:nvSpPr>
          <p:cNvPr name="TextBox 25" id="25"/>
          <p:cNvSpPr txBox="true"/>
          <p:nvPr/>
        </p:nvSpPr>
        <p:spPr>
          <a:xfrm>
            <a:off x="2140585" y="2981960"/>
            <a:ext cx="3763010" cy="928370"/>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Technical Integration of NLN with CADM</a:t>
            </a:r>
            <a:endParaRPr lang="en-US" sz="1100"/>
          </a:p>
        </p:txBody>
      </p:sp>
      <p:sp>
        <p:nvSpPr>
          <p:cNvPr name="TextBox 26" id="26"/>
          <p:cNvSpPr txBox="true"/>
          <p:nvPr/>
        </p:nvSpPr>
        <p:spPr>
          <a:xfrm>
            <a:off x="601980" y="3296285"/>
            <a:ext cx="918210" cy="645160"/>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03</a:t>
            </a:r>
            <a:endParaRPr lang="en-US" sz="1100"/>
          </a:p>
        </p:txBody>
      </p:sp>
      <p:sp>
        <p:nvSpPr>
          <p:cNvPr name="Freeform 27" id="27"/>
          <p:cNvSpPr/>
          <p:nvPr/>
        </p:nvSpPr>
        <p:spPr>
          <a:xfrm>
            <a:off x="838200" y="2068195"/>
            <a:ext cx="1174750" cy="67437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28" id="28"/>
          <p:cNvSpPr/>
          <p:nvPr/>
        </p:nvSpPr>
        <p:spPr>
          <a:xfrm>
            <a:off x="461645" y="206883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29" id="29"/>
          <p:cNvSpPr/>
          <p:nvPr/>
        </p:nvSpPr>
        <p:spPr>
          <a:xfrm>
            <a:off x="461645" y="2741930"/>
            <a:ext cx="5488940" cy="109855"/>
          </a:xfrm>
          <a:prstGeom prst="rect">
            <a:avLst/>
          </a:prstGeom>
          <a:solidFill>
            <a:srgbClr val="5EACC1"/>
          </a:solidFill>
          <a:ln>
            <a:noFill/>
          </a:ln>
        </p:spPr>
        <p:txBody>
          <a:bodyPr vert="horz" anchor="ctr" tIns="45720" lIns="91440" bIns="45720" rIns="91440">
            <a:noAutofit/>
          </a:bodyPr>
          <a:p>
            <a:pPr algn="ctr" marL="0"/>
          </a:p>
        </p:txBody>
      </p:sp>
      <p:sp>
        <p:nvSpPr>
          <p:cNvPr name="TextBox 30" id="30"/>
          <p:cNvSpPr txBox="true"/>
          <p:nvPr/>
        </p:nvSpPr>
        <p:spPr>
          <a:xfrm>
            <a:off x="2140585" y="1781810"/>
            <a:ext cx="3763010" cy="928370"/>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Introduction to Natural Language Navigation (NLN)</a:t>
            </a:r>
            <a:endParaRPr lang="en-US" sz="1100"/>
          </a:p>
        </p:txBody>
      </p:sp>
      <p:sp>
        <p:nvSpPr>
          <p:cNvPr name="TextBox 31" id="31"/>
          <p:cNvSpPr txBox="true"/>
          <p:nvPr/>
        </p:nvSpPr>
        <p:spPr>
          <a:xfrm>
            <a:off x="601980" y="2096135"/>
            <a:ext cx="918210" cy="645160"/>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01</a:t>
            </a:r>
            <a:endParaRPr lang="en-US" sz="1100"/>
          </a:p>
        </p:txBody>
      </p:sp>
      <p:sp>
        <p:nvSpPr>
          <p:cNvPr name="Freeform 32" id="32"/>
          <p:cNvSpPr/>
          <p:nvPr/>
        </p:nvSpPr>
        <p:spPr>
          <a:xfrm>
            <a:off x="838200" y="5669280"/>
            <a:ext cx="1174750" cy="673735"/>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33" id="33"/>
          <p:cNvSpPr/>
          <p:nvPr/>
        </p:nvSpPr>
        <p:spPr>
          <a:xfrm>
            <a:off x="461645" y="566928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34" id="34"/>
          <p:cNvSpPr/>
          <p:nvPr/>
        </p:nvSpPr>
        <p:spPr>
          <a:xfrm>
            <a:off x="461645" y="6342380"/>
            <a:ext cx="5447665" cy="109855"/>
          </a:xfrm>
          <a:prstGeom prst="rect">
            <a:avLst/>
          </a:prstGeom>
          <a:solidFill>
            <a:srgbClr val="5EACC1"/>
          </a:solidFill>
          <a:ln>
            <a:noFill/>
          </a:ln>
        </p:spPr>
        <p:txBody>
          <a:bodyPr vert="horz" anchor="ctr" tIns="45720" lIns="91440" bIns="45720" rIns="91440">
            <a:noAutofit/>
          </a:bodyPr>
          <a:p>
            <a:pPr algn="ctr" marL="0"/>
          </a:p>
        </p:txBody>
      </p:sp>
      <p:sp>
        <p:nvSpPr>
          <p:cNvPr name="TextBox 35" id="35"/>
          <p:cNvSpPr txBox="true"/>
          <p:nvPr/>
        </p:nvSpPr>
        <p:spPr>
          <a:xfrm>
            <a:off x="2140585" y="5382260"/>
            <a:ext cx="3763010" cy="928370"/>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Conceptual Architecture of NLN System</a:t>
            </a:r>
            <a:endParaRPr lang="en-US" sz="1100"/>
          </a:p>
        </p:txBody>
      </p:sp>
      <p:sp>
        <p:nvSpPr>
          <p:cNvPr name="TextBox 36" id="36"/>
          <p:cNvSpPr txBox="true"/>
          <p:nvPr/>
        </p:nvSpPr>
        <p:spPr>
          <a:xfrm>
            <a:off x="601980" y="5696585"/>
            <a:ext cx="918210" cy="645160"/>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07</a:t>
            </a:r>
            <a:endParaRPr lang="en-US" sz="1100"/>
          </a:p>
        </p:txBody>
      </p:sp>
      <p:sp>
        <p:nvSpPr>
          <p:cNvPr name="Freeform 37" id="37"/>
          <p:cNvSpPr/>
          <p:nvPr/>
        </p:nvSpPr>
        <p:spPr>
          <a:xfrm>
            <a:off x="6596380" y="5668645"/>
            <a:ext cx="1174750" cy="67437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5EACC1"/>
          </a:solidFill>
          <a:ln>
            <a:noFill/>
          </a:ln>
        </p:spPr>
        <p:txBody>
          <a:bodyPr vert="horz" anchor="ctr" wrap="square" tIns="45720" lIns="91440" bIns="45720" rIns="91440">
            <a:noAutofit/>
          </a:bodyPr>
          <a:p>
            <a:pPr algn="ctr" marL="0"/>
          </a:p>
        </p:txBody>
      </p:sp>
      <p:sp>
        <p:nvSpPr>
          <p:cNvPr name="Freeform 38" id="38"/>
          <p:cNvSpPr/>
          <p:nvPr/>
        </p:nvSpPr>
        <p:spPr>
          <a:xfrm>
            <a:off x="6219825" y="5669280"/>
            <a:ext cx="1403350" cy="673100"/>
          </a:xfrm>
          <a:custGeom>
            <a:avLst/>
            <a:gdLst/>
            <a:ahLst/>
            <a:cxnLst/>
            <a:rect r="r" b="b" t="t" l="l"/>
            <a:pathLst>
              <a:path w="1403483" h="673768" stroke="true" fill="norm" extrusionOk="true">
                <a:moveTo>
                  <a:pt x="0" y="0"/>
                </a:moveTo>
                <a:lnTo>
                  <a:pt x="515555" y="0"/>
                </a:lnTo>
                <a:lnTo>
                  <a:pt x="917441" y="0"/>
                </a:lnTo>
                <a:lnTo>
                  <a:pt x="1403483" y="673768"/>
                </a:lnTo>
                <a:lnTo>
                  <a:pt x="515555" y="673768"/>
                </a:lnTo>
                <a:lnTo>
                  <a:pt x="0" y="673768"/>
                </a:lnTo>
                <a:close/>
              </a:path>
            </a:pathLst>
          </a:custGeom>
          <a:solidFill>
            <a:srgbClr val="007C98"/>
          </a:solidFill>
          <a:ln>
            <a:noFill/>
          </a:ln>
        </p:spPr>
        <p:txBody>
          <a:bodyPr vert="horz" anchor="ctr" wrap="square" tIns="45720" lIns="91440" bIns="45720" rIns="91440">
            <a:noAutofit/>
          </a:bodyPr>
          <a:p>
            <a:pPr algn="ctr" marL="0"/>
          </a:p>
        </p:txBody>
      </p:sp>
      <p:sp>
        <p:nvSpPr>
          <p:cNvPr name="AutoShape 39" id="39"/>
          <p:cNvSpPr/>
          <p:nvPr/>
        </p:nvSpPr>
        <p:spPr>
          <a:xfrm>
            <a:off x="6219825" y="6342380"/>
            <a:ext cx="5447665" cy="109855"/>
          </a:xfrm>
          <a:prstGeom prst="rect">
            <a:avLst/>
          </a:prstGeom>
          <a:solidFill>
            <a:srgbClr val="5EACC1"/>
          </a:solidFill>
          <a:ln>
            <a:noFill/>
          </a:ln>
        </p:spPr>
        <p:txBody>
          <a:bodyPr vert="horz" anchor="ctr" tIns="45720" lIns="91440" bIns="45720" rIns="91440">
            <a:noAutofit/>
          </a:bodyPr>
          <a:p>
            <a:pPr algn="ctr" marL="0"/>
          </a:p>
        </p:txBody>
      </p:sp>
      <p:sp>
        <p:nvSpPr>
          <p:cNvPr name="TextBox 40" id="40"/>
          <p:cNvSpPr txBox="true"/>
          <p:nvPr/>
        </p:nvSpPr>
        <p:spPr>
          <a:xfrm>
            <a:off x="7898765" y="5382260"/>
            <a:ext cx="3763010" cy="928370"/>
          </a:xfrm>
          <a:prstGeom prst="rect">
            <a:avLst/>
          </a:prstGeom>
          <a:noFill/>
        </p:spPr>
        <p:txBody>
          <a:bodyPr anchor="b" rtlCol="false" vert="horz" wrap="square" tIns="0" lIns="0" bIns="0" rIns="0">
            <a:noAutofit/>
          </a:bodyPr>
          <a:lstStyle/>
          <a:p>
            <a:pPr algn="l" fontAlgn="auto" indent="0" marL="0">
              <a:lnSpc>
                <a:spcPct val="100000"/>
              </a:lnSpc>
              <a:spcBef>
                <a:spcPct val="0"/>
              </a:spcBef>
              <a:defRPr/>
            </a:pPr>
            <a:r>
              <a:rPr lang="en-US" b="false" i="false" sz="2800" baseline="0" u="none">
                <a:solidFill>
                  <a:srgbClr val="404040"/>
                </a:solidFill>
                <a:latin typeface="思源黑体 Normal"/>
                <a:ea typeface="思源黑体 Normal"/>
              </a:rPr>
              <a:t>Business Value and Management Communication</a:t>
            </a:r>
            <a:endParaRPr lang="en-US" sz="1100"/>
          </a:p>
        </p:txBody>
      </p:sp>
      <p:sp>
        <p:nvSpPr>
          <p:cNvPr name="TextBox 41" id="41"/>
          <p:cNvSpPr txBox="true"/>
          <p:nvPr/>
        </p:nvSpPr>
        <p:spPr>
          <a:xfrm>
            <a:off x="6360160" y="5696585"/>
            <a:ext cx="918210" cy="645160"/>
          </a:xfrm>
          <a:prstGeom prst="rect">
            <a:avLst/>
          </a:prstGeom>
          <a:noFill/>
        </p:spPr>
        <p:txBody>
          <a:bodyPr anchor="t" rtlCol="false" vert="horz" wrap="square" tIns="45720" lIns="91440" bIns="45720" rIns="91440">
            <a:noAutofit/>
          </a:bodyPr>
          <a:lstStyle/>
          <a:p>
            <a:pPr algn="ctr" marL="0">
              <a:defRPr/>
            </a:pPr>
            <a:r>
              <a:rPr lang="en-US" b="false" i="false" sz="3600" baseline="0" u="none">
                <a:solidFill>
                  <a:schemeClr val="bg1"/>
                </a:solidFill>
                <a:latin typeface="思源黑体 Normal"/>
                <a:ea typeface="思源黑体 Normal"/>
              </a:rPr>
              <a:t>08</a:t>
            </a:r>
            <a:endParaRPr lang="en-US" sz="1100"/>
          </a:p>
        </p:txBody>
      </p:sp>
    </p:spTree>
  </p:cSld>
  <p:clrMapOvr>
    <a:masterClrMapping/>
  </p:clrMapOvr>
  <p:transition spd="fast" advClick="false"/>
</p:sld>
</file>

<file path=ppt/slides/slide3.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PART-01</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Introduction to Natural Language Navigation (NLN)</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cxnSp>
        <p:nvCxnSpPr>
          <p:cNvPr name="Connector 2" id="2"/>
          <p:cNvCxnSpPr/>
          <p:nvPr/>
        </p:nvCxnSpPr>
        <p:spPr>
          <a:xfrm>
            <a:off x="6165215" y="1731645"/>
            <a:ext cx="0" cy="4116705"/>
          </a:xfrm>
          <a:prstGeom prst="line">
            <a:avLst/>
          </a:prstGeom>
          <a:ln w="9525">
            <a:solidFill>
              <a:schemeClr val="accent1"/>
            </a:solidFill>
          </a:ln>
        </p:spPr>
      </p:cxnSp>
      <p:sp>
        <p:nvSpPr>
          <p:cNvPr name="AutoShape 3" id="3"/>
          <p:cNvSpPr/>
          <p:nvPr/>
        </p:nvSpPr>
        <p:spPr>
          <a:xfrm>
            <a:off x="660400" y="1731645"/>
            <a:ext cx="4895850" cy="1656715"/>
          </a:xfrm>
          <a:prstGeom prst="roundRect">
            <a:avLst>
              <a:gd name="adj" fmla="val 6867"/>
            </a:avLst>
          </a:prstGeom>
          <a:blipFill rotWithShape="true">
            <a:blip r:embed="rId2"/>
            <a:stretch>
              <a:fillRect t="-45419" l="35" b="-46581" r="-35"/>
            </a:stretch>
          </a:blipFill>
          <a:ln cap="flat" cmpd="sng">
            <a:noFill/>
            <a:prstDash val="solid"/>
            <a:miter lim="800000"/>
          </a:ln>
          <a:effectLst/>
        </p:spPr>
        <p:txBody>
          <a:bodyPr vert="horz" anchor="ctr" tIns="46990" lIns="90170" bIns="46990" rIns="90170">
            <a:normAutofit/>
          </a:bodyPr>
          <a:p>
            <a:pPr algn="ctr" marL="0"/>
          </a:p>
        </p:txBody>
      </p:sp>
      <p:grpSp>
        <p:nvGrpSpPr>
          <p:cNvPr name="Group 4" id="4"/>
          <p:cNvGrpSpPr/>
          <p:nvPr/>
        </p:nvGrpSpPr>
        <p:grpSpPr>
          <a:xfrm>
            <a:off x="2809875" y="3051175"/>
            <a:ext cx="673735" cy="673735"/>
            <a:chOff x="1919536" y="2739155"/>
            <a:chExt cx="504056" cy="504056"/>
          </a:xfrm>
        </p:grpSpPr>
        <p:sp>
          <p:nvSpPr>
            <p:cNvPr name="AutoShape 5" id="5"/>
            <p:cNvSpPr/>
            <p:nvPr/>
          </p:nvSpPr>
          <p:spPr>
            <a:xfrm>
              <a:off x="1919536" y="2739155"/>
              <a:ext cx="504056" cy="504056"/>
            </a:xfrm>
            <a:prstGeom prst="ellipse">
              <a:avLst/>
            </a:prstGeom>
            <a:solidFill>
              <a:srgbClr val="007C98"/>
            </a:solidFill>
            <a:ln w="25400">
              <a:solidFill>
                <a:srgbClr val="000000">
                  <a:alpha val="0"/>
                </a:srgbClr>
              </a:solidFill>
            </a:ln>
          </p:spPr>
          <p:txBody>
            <a:bodyPr vert="horz" anchor="ctr" tIns="46990" lIns="90170" bIns="46990" rIns="90170">
              <a:normAutofit/>
            </a:bodyPr>
            <a:p>
              <a:pPr algn="ctr" marL="0"/>
            </a:p>
          </p:txBody>
        </p:sp>
        <p:sp>
          <p:nvSpPr>
            <p:cNvPr name="Freeform 6" id="6"/>
            <p:cNvSpPr/>
            <p:nvPr/>
          </p:nvSpPr>
          <p:spPr>
            <a:xfrm>
              <a:off x="2043203" y="2868766"/>
              <a:ext cx="256722" cy="244834"/>
            </a:xfrm>
            <a:custGeom>
              <a:avLst/>
              <a:gdLst/>
              <a:ahLst/>
              <a:cxnLst/>
              <a:rect r="r" b="b" t="t" l="l"/>
              <a:pathLst>
                <a:path w="607639" h="579502" stroke="true" fill="norm" extrusionOk="true">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rgbClr val="FFFFFF"/>
            </a:solidFill>
            <a:ln>
              <a:solidFill>
                <a:srgbClr val="000000">
                  <a:alpha val="0"/>
                </a:srgbClr>
              </a:solidFill>
            </a:ln>
          </p:spPr>
          <p:txBody>
            <a:bodyPr vert="horz" anchor="ctr" tIns="46990" lIns="90170" bIns="46990" rIns="90170">
              <a:normAutofit/>
            </a:bodyPr>
            <a:p>
              <a:pPr algn="ctr" marL="0"/>
            </a:p>
          </p:txBody>
        </p:sp>
      </p:grpSp>
      <p:sp>
        <p:nvSpPr>
          <p:cNvPr name="AutoShape 7" id="7"/>
          <p:cNvSpPr/>
          <p:nvPr/>
        </p:nvSpPr>
        <p:spPr>
          <a:xfrm>
            <a:off x="6647815" y="1731645"/>
            <a:ext cx="4895850" cy="1656715"/>
          </a:xfrm>
          <a:prstGeom prst="roundRect">
            <a:avLst>
              <a:gd name="adj" fmla="val 6867"/>
            </a:avLst>
          </a:prstGeom>
          <a:blipFill rotWithShape="true">
            <a:blip r:embed="rId3"/>
            <a:stretch>
              <a:fillRect t="-45419" l="347" b="-46581" r="-347"/>
            </a:stretch>
          </a:blipFill>
          <a:ln cap="flat" cmpd="sng">
            <a:noFill/>
            <a:prstDash val="solid"/>
            <a:miter lim="800000"/>
          </a:ln>
          <a:effectLst/>
        </p:spPr>
        <p:txBody>
          <a:bodyPr vert="horz" anchor="ctr" tIns="46990" lIns="90170" bIns="46990" rIns="90170">
            <a:normAutofit/>
          </a:bodyPr>
          <a:p>
            <a:pPr algn="ctr" marL="0"/>
          </a:p>
        </p:txBody>
      </p:sp>
      <p:grpSp>
        <p:nvGrpSpPr>
          <p:cNvPr name="Group 8" id="8"/>
          <p:cNvGrpSpPr/>
          <p:nvPr/>
        </p:nvGrpSpPr>
        <p:grpSpPr>
          <a:xfrm>
            <a:off x="8765540" y="3051175"/>
            <a:ext cx="673735" cy="673735"/>
            <a:chOff x="1919536" y="2739155"/>
            <a:chExt cx="504056" cy="504056"/>
          </a:xfrm>
        </p:grpSpPr>
        <p:sp>
          <p:nvSpPr>
            <p:cNvPr name="AutoShape 9" id="9"/>
            <p:cNvSpPr/>
            <p:nvPr/>
          </p:nvSpPr>
          <p:spPr>
            <a:xfrm>
              <a:off x="1919536" y="2739155"/>
              <a:ext cx="504056" cy="504056"/>
            </a:xfrm>
            <a:prstGeom prst="ellipse">
              <a:avLst/>
            </a:prstGeom>
            <a:solidFill>
              <a:srgbClr val="007C98"/>
            </a:solidFill>
            <a:ln w="25400">
              <a:solidFill>
                <a:srgbClr val="000000">
                  <a:alpha val="0"/>
                </a:srgbClr>
              </a:solidFill>
            </a:ln>
          </p:spPr>
          <p:txBody>
            <a:bodyPr vert="horz" anchor="ctr" tIns="46990" lIns="90170" bIns="46990" rIns="90170">
              <a:normAutofit/>
            </a:bodyPr>
            <a:p>
              <a:pPr algn="ctr" marL="0"/>
            </a:p>
          </p:txBody>
        </p:sp>
        <p:sp>
          <p:nvSpPr>
            <p:cNvPr name="Freeform 10" id="10"/>
            <p:cNvSpPr/>
            <p:nvPr/>
          </p:nvSpPr>
          <p:spPr>
            <a:xfrm>
              <a:off x="2043203" y="2868766"/>
              <a:ext cx="256722" cy="244834"/>
            </a:xfrm>
            <a:custGeom>
              <a:avLst/>
              <a:gdLst/>
              <a:ahLst/>
              <a:cxnLst/>
              <a:rect r="r" b="b" t="t" l="l"/>
              <a:pathLst>
                <a:path w="607639" h="579502" stroke="true" fill="norm" extrusionOk="true">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rgbClr val="FFFFFF"/>
            </a:solidFill>
            <a:ln>
              <a:solidFill>
                <a:srgbClr val="000000">
                  <a:alpha val="0"/>
                </a:srgbClr>
              </a:solidFill>
            </a:ln>
          </p:spPr>
          <p:txBody>
            <a:bodyPr vert="horz" anchor="ctr" tIns="46990" lIns="90170" bIns="46990" rIns="90170">
              <a:normAutofit/>
            </a:bodyPr>
            <a:p>
              <a:pPr algn="ctr" marL="0"/>
            </a:p>
          </p:txBody>
        </p:sp>
      </p:grpSp>
      <p:sp>
        <p:nvSpPr>
          <p:cNvPr name="TextBox 11" id="11"/>
          <p:cNvSpPr txBox="true"/>
          <p:nvPr/>
        </p:nvSpPr>
        <p:spPr>
          <a:xfrm>
            <a:off x="660400" y="3807460"/>
            <a:ext cx="4895850" cy="508635"/>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2000" baseline="0" u="none">
                <a:solidFill>
                  <a:srgbClr val="007C98"/>
                </a:solidFill>
                <a:latin typeface="思源黑体 Normal"/>
                <a:ea typeface="思源黑体 Normal"/>
              </a:rPr>
              <a:t>Transforming Navigation from Menus to Intuitive Search</a:t>
            </a:r>
            <a:endParaRPr lang="en-US" sz="1100"/>
          </a:p>
        </p:txBody>
      </p:sp>
      <p:sp>
        <p:nvSpPr>
          <p:cNvPr name="AutoShape 12" id="12"/>
          <p:cNvSpPr/>
          <p:nvPr/>
        </p:nvSpPr>
        <p:spPr>
          <a:xfrm>
            <a:off x="660400" y="4315460"/>
            <a:ext cx="4896000" cy="1866265"/>
          </a:xfrm>
          <a:prstGeom prst="rect">
            <a:avLst/>
          </a:prstGeom>
          <a:noFill/>
        </p:spPr>
        <p:txBody>
          <a:bodyPr vert="horz" anchor="t" wrap="square" tIns="46990" lIns="90170" bIns="46990" rIns="90170">
            <a:normAutofit/>
          </a:bodyPr>
          <a:p>
            <a:pPr fontAlgn="auto" algn="just" indent="0" marL="0">
              <a:lnSpc>
                <a:spcPct val="150000"/>
              </a:lnSpc>
            </a:pPr>
            <a:r>
              <a:rPr lang="en-US" b="false" i="false" sz="1301" baseline="0" u="none">
                <a:ln/>
                <a:solidFill>
                  <a:srgbClr val="333333"/>
                </a:solidFill>
                <a:latin typeface="思源黑体 Normal"/>
                <a:ea typeface="思源黑体 Normal"/>
              </a:rPr>
              <a:t>Natural Language Navigation (NLN) shifts user interaction from traditional menu-driven models to an intuitive, search-driven approach. Users can input commands like "Open SFTP configuration for ABC group," and the system interprets the intent, identifies the module, and opens the desired page directly. This streamlines navigation in complex systems like Straight2Bank, enhancing efficiency and user experience.</a:t>
            </a:r>
          </a:p>
        </p:txBody>
      </p:sp>
      <p:sp>
        <p:nvSpPr>
          <p:cNvPr name="TextBox 13" id="13"/>
          <p:cNvSpPr txBox="true"/>
          <p:nvPr/>
        </p:nvSpPr>
        <p:spPr>
          <a:xfrm>
            <a:off x="6647815" y="3807460"/>
            <a:ext cx="4895850" cy="508635"/>
          </a:xfrm>
          <a:prstGeom prst="rect">
            <a:avLst/>
          </a:prstGeom>
        </p:spPr>
        <p:txBody>
          <a:bodyPr anchor="ctr" rtlCol="false" vert="horz" wrap="square" tIns="46990" lIns="90170" bIns="46990" rIns="90170">
            <a:normAutofit/>
          </a:bodyPr>
          <a:lstStyle/>
          <a:p>
            <a:pPr algn="l" fontAlgn="auto" marL="0">
              <a:lnSpc>
                <a:spcPct val="100000"/>
              </a:lnSpc>
              <a:defRPr/>
            </a:pPr>
            <a:r>
              <a:rPr lang="en-US" b="true" i="false" sz="2000" baseline="0" u="none">
                <a:solidFill>
                  <a:srgbClr val="007C98"/>
                </a:solidFill>
                <a:latin typeface="思源黑体 Normal"/>
                <a:ea typeface="思源黑体 Normal"/>
              </a:rPr>
              <a:t>Core Functionality and Business Impact</a:t>
            </a:r>
            <a:endParaRPr lang="en-US" sz="1100"/>
          </a:p>
        </p:txBody>
      </p:sp>
      <p:sp>
        <p:nvSpPr>
          <p:cNvPr name="AutoShape 14" id="14"/>
          <p:cNvSpPr/>
          <p:nvPr/>
        </p:nvSpPr>
        <p:spPr>
          <a:xfrm>
            <a:off x="6647815" y="4315460"/>
            <a:ext cx="4896000" cy="1866265"/>
          </a:xfrm>
          <a:prstGeom prst="rect">
            <a:avLst/>
          </a:prstGeom>
          <a:noFill/>
        </p:spPr>
        <p:txBody>
          <a:bodyPr vert="horz" anchor="t" wrap="square" tIns="46990" lIns="90170" bIns="46990" rIns="90170">
            <a:normAutofit/>
          </a:bodyPr>
          <a:p>
            <a:pPr fontAlgn="auto" algn="just" indent="0" marL="0">
              <a:lnSpc>
                <a:spcPct val="150000"/>
              </a:lnSpc>
            </a:pPr>
            <a:r>
              <a:rPr lang="en-US" b="false" i="false" sz="1500" baseline="0" u="none">
                <a:solidFill>
                  <a:srgbClr val="333333"/>
                </a:solidFill>
                <a:latin typeface="思源黑体 Normal"/>
                <a:ea typeface="思源黑体 Normal"/>
              </a:rPr>
              <a:t>NLN adds a new interaction layer without altering existing business logic. It processes user input through an AI intent engine, maps it to the appropriate route, and redirects to the relevant controller. This maintains system integrity while significantly improving usability, reducing training time, and modernizing the user interface for banking operations.</a:t>
            </a:r>
          </a:p>
        </p:txBody>
      </p:sp>
      <p:sp>
        <p:nvSpPr>
          <p:cNvPr name="Freeform 15" id="15"/>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16" id="16"/>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The Evolution of User Interaction in Banking Systems</a:t>
            </a:r>
            <a:endParaRPr lang="en-US" sz="1100"/>
          </a:p>
        </p:txBody>
      </p:sp>
    </p:spTree>
  </p:cSld>
  <p:clrMapOvr>
    <a:masterClrMapping/>
  </p:clrMapOvr>
  <p:transition spd="fast" advClick="false"/>
</p:sld>
</file>

<file path=ppt/slides/slide5.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PART-02</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Current CADM System Architecture</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AutoShape 2" id="2"/>
          <p:cNvSpPr/>
          <p:nvPr/>
        </p:nvSpPr>
        <p:spPr>
          <a:xfrm>
            <a:off x="9392245" y="3858579"/>
            <a:ext cx="2497775" cy="2497775"/>
          </a:xfrm>
          <a:prstGeom prst="ellipse">
            <a:avLst/>
          </a:prstGeom>
          <a:solidFill>
            <a:schemeClr val="accent1">
              <a:alpha val="20000"/>
            </a:schemeClr>
          </a:solidFill>
          <a:ln>
            <a:noFill/>
          </a:ln>
        </p:spPr>
        <p:txBody>
          <a:bodyPr vert="horz" anchor="ctr" tIns="45720" lIns="91440" bIns="45720" rIns="91440"/>
          <a:p>
            <a:pPr algn="ctr" marL="0"/>
          </a:p>
        </p:txBody>
      </p:sp>
      <p:sp>
        <p:nvSpPr>
          <p:cNvPr name="AutoShape 3" id="3"/>
          <p:cNvSpPr/>
          <p:nvPr/>
        </p:nvSpPr>
        <p:spPr>
          <a:xfrm>
            <a:off x="6787829" y="1054108"/>
            <a:ext cx="4794241" cy="4794241"/>
          </a:xfrm>
          <a:prstGeom prst="ellipse">
            <a:avLst/>
          </a:prstGeom>
          <a:solidFill>
            <a:srgbClr val="007C98"/>
          </a:solidFill>
          <a:ln>
            <a:noFill/>
          </a:ln>
        </p:spPr>
        <p:txBody>
          <a:bodyPr vert="horz" anchor="ctr" tIns="45720" lIns="91440" bIns="45720" rIns="91440"/>
          <a:p>
            <a:pPr algn="ctr" marL="0"/>
          </a:p>
        </p:txBody>
      </p:sp>
      <p:pic>
        <p:nvPicPr>
          <p:cNvPr name="image66.jpeg" id="4"/>
          <p:cNvPicPr>
            <a:picLocks noChangeAspect="true"/>
          </p:cNvPicPr>
          <p:nvPr/>
        </p:nvPicPr>
        <p:blipFill rotWithShape="true">
          <a:blip r:embed="rId2"/>
          <a:srcRect l="21377" r="11859"/>
          <a:stretch>
            <a:fillRect t="0" l="0" b="0" r="0"/>
          </a:stretch>
        </p:blipFill>
        <p:spPr>
          <a:xfrm>
            <a:off x="7000537" y="1112840"/>
            <a:ext cx="4676776" cy="4676776"/>
          </a:xfrm>
          <a:custGeom>
            <a:pathLst>
              <a:path w="4676776" h="4676776" stroke="true" fill="norm" extrusionOk="true">
                <a:moveTo>
                  <a:pt x="2338388" y="0"/>
                </a:moveTo>
                <a:cubicBezTo>
                  <a:pt x="3629844" y="0"/>
                  <a:pt x="4676776" y="1046932"/>
                  <a:pt x="4676776" y="2338388"/>
                </a:cubicBezTo>
                <a:cubicBezTo>
                  <a:pt x="4676776" y="3629844"/>
                  <a:pt x="3629844" y="4676776"/>
                  <a:pt x="2338388" y="4676776"/>
                </a:cubicBezTo>
                <a:cubicBezTo>
                  <a:pt x="1046932" y="4676776"/>
                  <a:pt x="0" y="3629844"/>
                  <a:pt x="0" y="2338388"/>
                </a:cubicBezTo>
                <a:cubicBezTo>
                  <a:pt x="0" y="1046932"/>
                  <a:pt x="1046932" y="0"/>
                  <a:pt x="2338388" y="0"/>
                </a:cubicBezTo>
                <a:close/>
              </a:path>
            </a:pathLst>
          </a:custGeom>
          <a:ln w="9525" cap="flat" cmpd="sng">
            <a:solidFill>
              <a:schemeClr val="accent1">
                <a:alpha val="50000"/>
              </a:schemeClr>
            </a:solidFill>
            <a:prstDash val="solid"/>
          </a:ln>
        </p:spPr>
      </p:pic>
      <p:grpSp>
        <p:nvGrpSpPr>
          <p:cNvPr name="Group 5" id="5"/>
          <p:cNvGrpSpPr/>
          <p:nvPr/>
        </p:nvGrpSpPr>
        <p:grpSpPr>
          <a:xfrm>
            <a:off x="825500" y="1906273"/>
            <a:ext cx="5425440" cy="3413760"/>
            <a:chOff x="1475" y="3596"/>
            <a:chExt cx="8544" cy="5376"/>
          </a:xfrm>
        </p:grpSpPr>
        <p:sp>
          <p:nvSpPr>
            <p:cNvPr name="TextBox 6" id="6"/>
            <p:cNvSpPr txBox="true"/>
            <p:nvPr/>
          </p:nvSpPr>
          <p:spPr>
            <a:xfrm>
              <a:off x="1475" y="4446"/>
              <a:ext cx="8544" cy="4526"/>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The existing CADM system uses a legacy XML architecture with hardcoded navigation menus. The typical flow involves a frontend communicating with Spring Boot controllers, which interact with a service layer and an Oracle database. Each screen is mapped to specific URLs, controllers, and service queries, leading to a cumbersome user experience with high learning curves and multiple clicks.</a:t>
              </a:r>
              <a:endParaRPr lang="en-US" sz="1100"/>
            </a:p>
          </p:txBody>
        </p:sp>
        <p:sp>
          <p:nvSpPr>
            <p:cNvPr name="TextBox 7" id="7"/>
            <p:cNvSpPr txBox="true"/>
            <p:nvPr/>
          </p:nvSpPr>
          <p:spPr>
            <a:xfrm>
              <a:off x="1475" y="3596"/>
              <a:ext cx="8544"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XML-Based Menu-Driven Architecture</a:t>
              </a:r>
              <a:endParaRPr lang="en-US" sz="1100"/>
            </a:p>
          </p:txBody>
        </p:sp>
      </p:grpSp>
      <p:sp>
        <p:nvSpPr>
          <p:cNvPr name="Freeform 8" id="8"/>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9" id="9"/>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Legacy Navigation and System Limitations</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Freeform 2" id="2"/>
          <p:cNvSpPr/>
          <p:nvPr/>
        </p:nvSpPr>
        <p:spPr>
          <a:xfrm flipH="true" flipV="true">
            <a:off x="2285287" y="2970666"/>
            <a:ext cx="3409950" cy="2887345"/>
          </a:xfrm>
          <a:custGeom>
            <a:avLst/>
            <a:gdLst/>
            <a:ahLst/>
            <a:cxnLst/>
            <a:rect r="r" b="b" t="t" l="l"/>
            <a:pathLst>
              <a:path w="5370" h="4547" stroke="true" fill="norm" extrusionOk="true">
                <a:moveTo>
                  <a:pt x="579" y="0"/>
                </a:moveTo>
                <a:lnTo>
                  <a:pt x="1030" y="362"/>
                </a:lnTo>
                <a:lnTo>
                  <a:pt x="5026" y="362"/>
                </a:lnTo>
                <a:cubicBezTo>
                  <a:pt x="5185" y="362"/>
                  <a:pt x="5317" y="471"/>
                  <a:pt x="5354" y="618"/>
                </a:cubicBezTo>
                <a:lnTo>
                  <a:pt x="5355" y="624"/>
                </a:lnTo>
                <a:lnTo>
                  <a:pt x="5359" y="638"/>
                </a:lnTo>
                <a:cubicBezTo>
                  <a:pt x="5366" y="666"/>
                  <a:pt x="5370" y="695"/>
                  <a:pt x="5370" y="726"/>
                </a:cubicBezTo>
                <a:lnTo>
                  <a:pt x="5370" y="4198"/>
                </a:lnTo>
                <a:cubicBezTo>
                  <a:pt x="5370" y="4391"/>
                  <a:pt x="5214" y="4547"/>
                  <a:pt x="5021" y="4547"/>
                </a:cubicBezTo>
                <a:lnTo>
                  <a:pt x="349" y="4547"/>
                </a:lnTo>
                <a:cubicBezTo>
                  <a:pt x="258" y="4547"/>
                  <a:pt x="176" y="4513"/>
                  <a:pt x="114" y="4456"/>
                </a:cubicBezTo>
                <a:lnTo>
                  <a:pt x="114" y="4456"/>
                </a:lnTo>
                <a:lnTo>
                  <a:pt x="111" y="4453"/>
                </a:lnTo>
                <a:cubicBezTo>
                  <a:pt x="43" y="4392"/>
                  <a:pt x="0" y="4302"/>
                  <a:pt x="0" y="4203"/>
                </a:cubicBezTo>
                <a:lnTo>
                  <a:pt x="0" y="4198"/>
                </a:lnTo>
                <a:lnTo>
                  <a:pt x="0" y="726"/>
                </a:lnTo>
                <a:lnTo>
                  <a:pt x="0" y="700"/>
                </a:lnTo>
                <a:cubicBezTo>
                  <a:pt x="0" y="513"/>
                  <a:pt x="151" y="362"/>
                  <a:pt x="338" y="362"/>
                </a:cubicBezTo>
                <a:lnTo>
                  <a:pt x="580" y="362"/>
                </a:lnTo>
                <a:lnTo>
                  <a:pt x="579" y="0"/>
                </a:lnTo>
                <a:close/>
              </a:path>
            </a:pathLst>
          </a:custGeom>
          <a:gradFill>
            <a:gsLst>
              <a:gs pos="0">
                <a:schemeClr val="accent1">
                  <a:alpha val="40000"/>
                  <a:lumMod val="60000"/>
                  <a:lumOff val="40000"/>
                </a:schemeClr>
              </a:gs>
              <a:gs pos="80000">
                <a:schemeClr val="accent1">
                  <a:alpha val="60000"/>
                </a:schemeClr>
              </a:gs>
            </a:gsLst>
            <a:path path="circle">
              <a:fillToRect t="100000" l="100000" b="0" r="0"/>
            </a:path>
            <a:tileRect t="0%" l="0%" b="-100000" r="-100000"/>
          </a:gradFill>
          <a:ln>
            <a:noFill/>
          </a:ln>
        </p:spPr>
        <p:txBody>
          <a:bodyPr vert="horz" anchor="ctr" wrap="square" tIns="45720" lIns="91440" bIns="45720" rIns="91440">
            <a:noAutofit/>
          </a:bodyPr>
          <a:p>
            <a:pPr algn="ctr" marL="0"/>
          </a:p>
        </p:txBody>
      </p:sp>
      <p:sp>
        <p:nvSpPr>
          <p:cNvPr name="Freeform 3" id="3"/>
          <p:cNvSpPr/>
          <p:nvPr/>
        </p:nvSpPr>
        <p:spPr>
          <a:xfrm>
            <a:off x="789862" y="1826396"/>
            <a:ext cx="4646295" cy="3843064"/>
          </a:xfrm>
          <a:custGeom>
            <a:avLst/>
            <a:gdLst/>
            <a:ahLst/>
            <a:cxnLst/>
            <a:rect r="r" b="b" t="t" l="l"/>
            <a:pathLst>
              <a:path w="7317" h="6052" stroke="true" fill="norm" extrusionOk="true">
                <a:moveTo>
                  <a:pt x="489" y="0"/>
                </a:moveTo>
                <a:lnTo>
                  <a:pt x="6828" y="0"/>
                </a:lnTo>
                <a:cubicBezTo>
                  <a:pt x="7098" y="0"/>
                  <a:pt x="7317" y="219"/>
                  <a:pt x="7317" y="489"/>
                </a:cubicBezTo>
                <a:lnTo>
                  <a:pt x="7317" y="5134"/>
                </a:lnTo>
                <a:cubicBezTo>
                  <a:pt x="7317" y="5404"/>
                  <a:pt x="7098" y="5623"/>
                  <a:pt x="6828" y="5623"/>
                </a:cubicBezTo>
                <a:lnTo>
                  <a:pt x="1234" y="5623"/>
                </a:lnTo>
                <a:lnTo>
                  <a:pt x="699" y="6052"/>
                </a:lnTo>
                <a:lnTo>
                  <a:pt x="700" y="5623"/>
                </a:lnTo>
                <a:lnTo>
                  <a:pt x="489" y="5623"/>
                </a:lnTo>
                <a:cubicBezTo>
                  <a:pt x="219" y="5623"/>
                  <a:pt x="0" y="5404"/>
                  <a:pt x="0" y="5134"/>
                </a:cubicBezTo>
                <a:lnTo>
                  <a:pt x="0" y="489"/>
                </a:lnTo>
                <a:cubicBezTo>
                  <a:pt x="0" y="219"/>
                  <a:pt x="219" y="0"/>
                  <a:pt x="489" y="0"/>
                </a:cubicBezTo>
                <a:close/>
              </a:path>
            </a:pathLst>
          </a:custGeom>
          <a:gradFill>
            <a:gsLst>
              <a:gs pos="20000">
                <a:schemeClr val="accent5">
                  <a:lumMod val="75000"/>
                  <a:lumOff val="25000"/>
                </a:schemeClr>
              </a:gs>
              <a:gs pos="64999">
                <a:schemeClr val="accent1"/>
              </a:gs>
            </a:gsLst>
            <a:path path="circle">
              <a:fillToRect t="0" l="0" b="100000" r="100000"/>
            </a:path>
            <a:tileRect t="-100000" l="-100000" b="0%" r="0%"/>
          </a:gradFill>
          <a:ln>
            <a:noFill/>
          </a:ln>
        </p:spPr>
        <p:txBody>
          <a:bodyPr vert="horz" anchor="ctr" wrap="square" tIns="45720" lIns="91440" bIns="45720" rIns="91440">
            <a:noAutofit/>
          </a:bodyPr>
          <a:p>
            <a:pPr algn="ctr" marL="0"/>
          </a:p>
        </p:txBody>
      </p:sp>
      <p:pic>
        <p:nvPicPr>
          <p:cNvPr name="image75.jpeg" id="4"/>
          <p:cNvPicPr>
            <a:picLocks noChangeAspect="true"/>
          </p:cNvPicPr>
          <p:nvPr/>
        </p:nvPicPr>
        <p:blipFill rotWithShape="true">
          <a:blip r:embed="rId2"/>
          <a:srcRect l="3560" r="3604"/>
          <a:stretch>
            <a:fillRect t="0" l="0" b="0" r="0"/>
          </a:stretch>
        </p:blipFill>
        <p:spPr>
          <a:xfrm>
            <a:off x="934959" y="1940560"/>
            <a:ext cx="4356100" cy="3274060"/>
          </a:xfrm>
          <a:prstGeom prst="roundRect">
            <a:avLst>
              <a:gd name="adj" fmla="val 6291"/>
            </a:avLst>
          </a:prstGeom>
          <a:ln w="9525" cap="flat" cmpd="sng">
            <a:solidFill>
              <a:schemeClr val="dk1">
                <a:alpha val="50000"/>
                <a:lumMod val="40000"/>
                <a:lumOff val="60000"/>
              </a:schemeClr>
            </a:solidFill>
            <a:prstDash val="solid"/>
          </a:ln>
        </p:spPr>
      </p:pic>
      <p:sp>
        <p:nvSpPr>
          <p:cNvPr name="TextBox 5" id="5"/>
          <p:cNvSpPr txBox="true"/>
          <p:nvPr/>
        </p:nvSpPr>
        <p:spPr>
          <a:xfrm>
            <a:off x="6185535" y="2480310"/>
            <a:ext cx="5039995" cy="2874010"/>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The current workflow requires users to navigate through multiple menus to access specific configurations. This process is time-consuming and error-prone, especially for new users. The system's complexity hinders efficiency, making it essential to adopt a more intuitive navigation method like NLN to streamline operations and improve overall user satisfaction.</a:t>
            </a:r>
            <a:endParaRPr lang="en-US" sz="1100"/>
          </a:p>
        </p:txBody>
      </p:sp>
      <p:sp>
        <p:nvSpPr>
          <p:cNvPr name="TextBox 6" id="6"/>
          <p:cNvSpPr txBox="true"/>
          <p:nvPr/>
        </p:nvSpPr>
        <p:spPr>
          <a:xfrm>
            <a:off x="6185535" y="1940560"/>
            <a:ext cx="5039995" cy="5397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Frontend to Database Interaction Flow</a:t>
            </a:r>
            <a:endParaRPr lang="en-US" sz="1100"/>
          </a:p>
        </p:txBody>
      </p:sp>
      <p:sp>
        <p:nvSpPr>
          <p:cNvPr name="Freeform 7" id="7"/>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8" id="8"/>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System Workflow and User Experience Challenges</a:t>
            </a:r>
            <a:endParaRPr lang="en-US" sz="1100"/>
          </a:p>
        </p:txBody>
      </p:sp>
    </p:spTree>
  </p:cSld>
  <p:clrMapOvr>
    <a:masterClrMapping/>
  </p:clrMapOvr>
  <p:transition spd="fast"/>
</p:sld>
</file>

<file path=ppt/slides/slide8.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PART-03</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Technical Integration of NLN with CADM</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AutoShape 2" id="2"/>
          <p:cNvSpPr/>
          <p:nvPr/>
        </p:nvSpPr>
        <p:spPr>
          <a:xfrm>
            <a:off x="687705" y="1285875"/>
            <a:ext cx="8056245" cy="5211445"/>
          </a:xfrm>
          <a:prstGeom prst="rect">
            <a:avLst/>
          </a:prstGeom>
          <a:gradFill>
            <a:gsLst>
              <a:gs pos="0">
                <a:schemeClr val="accent1">
                  <a:lumMod val="90000"/>
                  <a:lumOff val="10000"/>
                </a:schemeClr>
              </a:gs>
              <a:gs pos="0">
                <a:srgbClr val="FFFFFF"/>
              </a:gs>
              <a:gs pos="100000">
                <a:srgbClr val="F0F7F8"/>
              </a:gs>
            </a:gsLst>
            <a:lin ang="1320000"/>
          </a:gradFill>
          <a:ln>
            <a:noFill/>
          </a:ln>
        </p:spPr>
        <p:txBody>
          <a:bodyPr vert="horz" anchor="ctr" tIns="45720" lIns="91440" bIns="45720" rIns="91440"/>
          <a:p>
            <a:pPr algn="ctr" marL="0"/>
          </a:p>
        </p:txBody>
      </p:sp>
      <p:pic>
        <p:nvPicPr>
          <p:cNvPr name="image74.jpeg" id="3"/>
          <p:cNvPicPr>
            <a:picLocks noChangeAspect="true"/>
          </p:cNvPicPr>
          <p:nvPr/>
        </p:nvPicPr>
        <p:blipFill rotWithShape="true">
          <a:blip r:embed="rId2"/>
          <a:srcRect l="1416" r="1416"/>
          <a:stretch>
            <a:fillRect t="0" l="0" b="0" r="0"/>
          </a:stretch>
        </p:blipFill>
        <p:spPr>
          <a:xfrm>
            <a:off x="6305550" y="1873250"/>
            <a:ext cx="5886450" cy="4036695"/>
          </a:xfrm>
          <a:custGeom>
            <a:pathLst>
              <a:path w="6120000" h="4500000" stroke="true" fill="norm" extrusionOk="true">
                <a:moveTo>
                  <a:pt x="0" y="0"/>
                </a:moveTo>
                <a:lnTo>
                  <a:pt x="6120000" y="0"/>
                </a:lnTo>
                <a:lnTo>
                  <a:pt x="6120000" y="4500000"/>
                </a:lnTo>
                <a:lnTo>
                  <a:pt x="0" y="4500000"/>
                </a:lnTo>
                <a:close/>
              </a:path>
            </a:pathLst>
          </a:custGeom>
          <a:ln w="6350">
            <a:solidFill>
              <a:schemeClr val="tx1">
                <a:alpha val="50000"/>
                <a:lumMod val="40000"/>
                <a:lumOff val="60000"/>
              </a:schemeClr>
            </a:solidFill>
          </a:ln>
          <a:effectLst>
            <a:outerShdw algn="t" blurRad="254000" dir="8400000" dist="381000" rotWithShape="false">
              <a:schemeClr val="accent1">
                <a:alpha val="15000"/>
                <a:lumMod val="50000"/>
              </a:schemeClr>
            </a:outerShdw>
          </a:effectLst>
        </p:spPr>
      </p:pic>
      <p:grpSp>
        <p:nvGrpSpPr>
          <p:cNvPr name="Group 4" id="4"/>
          <p:cNvGrpSpPr/>
          <p:nvPr/>
        </p:nvGrpSpPr>
        <p:grpSpPr>
          <a:xfrm>
            <a:off x="873125" y="2184718"/>
            <a:ext cx="4913630" cy="3413760"/>
            <a:chOff x="1805" y="3251"/>
            <a:chExt cx="7936" cy="5376"/>
          </a:xfrm>
        </p:grpSpPr>
        <p:sp>
          <p:nvSpPr>
            <p:cNvPr name="TextBox 5" id="5"/>
            <p:cNvSpPr txBox="true"/>
            <p:nvPr/>
          </p:nvSpPr>
          <p:spPr>
            <a:xfrm>
              <a:off x="1805" y="4101"/>
              <a:ext cx="7937" cy="4526"/>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NLN integrates as an additional layer over the existing CADM architecture. Upon receiving user input, the system processes the request through an AI intent engine that maps the intent to a route resolver. The system then redirects the user to the corresponding controller, loading the relevant page without altering core business logic, ensuring system stability and security.</a:t>
              </a:r>
              <a:endParaRPr lang="en-US" sz="1100"/>
            </a:p>
          </p:txBody>
        </p:sp>
        <p:sp>
          <p:nvSpPr>
            <p:cNvPr name="TextBox 6" id="6"/>
            <p:cNvSpPr txBox="true"/>
            <p:nvPr/>
          </p:nvSpPr>
          <p:spPr>
            <a:xfrm>
              <a:off x="1805" y="3251"/>
              <a:ext cx="7937"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Adding a New Layer for Natural Language Processing</a:t>
              </a:r>
              <a:endParaRPr lang="en-US" sz="1100"/>
            </a:p>
          </p:txBody>
        </p:sp>
      </p:grpSp>
      <p:sp>
        <p:nvSpPr>
          <p:cNvPr name="Freeform 7" id="7"/>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8" id="8"/>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Seamless Integration Without Business Logic Changes</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Freeform 2" id="2"/>
          <p:cNvSpPr/>
          <p:nvPr/>
        </p:nvSpPr>
        <p:spPr>
          <a:xfrm>
            <a:off x="7263130" y="13335"/>
            <a:ext cx="4904740" cy="4784090"/>
          </a:xfrm>
          <a:custGeom>
            <a:avLst/>
            <a:gdLst/>
            <a:ahLst/>
            <a:cxnLst/>
            <a:rect r="r" b="b" t="t" l="l"/>
            <a:pathLst>
              <a:path w="7282" h="7266" stroke="true" fill="norm" extrusionOk="true">
                <a:moveTo>
                  <a:pt x="2683" y="0"/>
                </a:moveTo>
                <a:lnTo>
                  <a:pt x="4825" y="0"/>
                </a:lnTo>
                <a:lnTo>
                  <a:pt x="4884" y="16"/>
                </a:lnTo>
                <a:cubicBezTo>
                  <a:pt x="5044" y="63"/>
                  <a:pt x="5198" y="119"/>
                  <a:pt x="5344" y="186"/>
                </a:cubicBezTo>
                <a:cubicBezTo>
                  <a:pt x="6210" y="581"/>
                  <a:pt x="6877" y="1326"/>
                  <a:pt x="7271" y="2109"/>
                </a:cubicBezTo>
                <a:lnTo>
                  <a:pt x="7282" y="2130"/>
                </a:lnTo>
                <a:lnTo>
                  <a:pt x="7282" y="5206"/>
                </a:lnTo>
                <a:lnTo>
                  <a:pt x="7278" y="5216"/>
                </a:lnTo>
                <a:cubicBezTo>
                  <a:pt x="7067" y="5689"/>
                  <a:pt x="6810" y="6030"/>
                  <a:pt x="6556" y="6282"/>
                </a:cubicBezTo>
                <a:cubicBezTo>
                  <a:pt x="6641" y="6311"/>
                  <a:pt x="6719" y="6358"/>
                  <a:pt x="6785" y="6419"/>
                </a:cubicBezTo>
                <a:cubicBezTo>
                  <a:pt x="6981" y="6607"/>
                  <a:pt x="6959" y="6891"/>
                  <a:pt x="6490" y="7105"/>
                </a:cubicBezTo>
                <a:cubicBezTo>
                  <a:pt x="6065" y="7297"/>
                  <a:pt x="5625" y="7201"/>
                  <a:pt x="5433" y="7003"/>
                </a:cubicBezTo>
                <a:lnTo>
                  <a:pt x="5433" y="7004"/>
                </a:lnTo>
                <a:cubicBezTo>
                  <a:pt x="4014" y="7559"/>
                  <a:pt x="1945" y="7223"/>
                  <a:pt x="1006" y="6087"/>
                </a:cubicBezTo>
                <a:cubicBezTo>
                  <a:pt x="-531" y="4229"/>
                  <a:pt x="-260" y="2047"/>
                  <a:pt x="1502" y="590"/>
                </a:cubicBezTo>
                <a:cubicBezTo>
                  <a:pt x="1828" y="320"/>
                  <a:pt x="2228" y="126"/>
                  <a:pt x="2659" y="6"/>
                </a:cubicBezTo>
                <a:lnTo>
                  <a:pt x="2683" y="0"/>
                </a:lnTo>
                <a:close/>
              </a:path>
            </a:pathLst>
          </a:custGeom>
          <a:noFill/>
          <a:ln w="22225">
            <a:solidFill>
              <a:srgbClr val="4A4A4A"/>
            </a:solidFill>
          </a:ln>
        </p:spPr>
        <p:txBody>
          <a:bodyPr vert="horz" anchor="ctr" wrap="square" tIns="45720" lIns="91440" bIns="45720" rIns="91440">
            <a:noAutofit/>
          </a:bodyPr>
          <a:p>
            <a:pPr algn="ctr" marL="0"/>
          </a:p>
        </p:txBody>
      </p:sp>
      <p:sp>
        <p:nvSpPr>
          <p:cNvPr name="Freeform 3" id="3"/>
          <p:cNvSpPr/>
          <p:nvPr/>
        </p:nvSpPr>
        <p:spPr>
          <a:xfrm>
            <a:off x="7306310" y="89535"/>
            <a:ext cx="4832350" cy="4712970"/>
          </a:xfrm>
          <a:custGeom>
            <a:avLst/>
            <a:gdLst/>
            <a:ahLst/>
            <a:cxnLst/>
            <a:rect r="r" b="b" t="t" l="l"/>
            <a:pathLst>
              <a:path w="7282" h="7266" stroke="true" fill="norm" extrusionOk="true">
                <a:moveTo>
                  <a:pt x="2683" y="0"/>
                </a:moveTo>
                <a:lnTo>
                  <a:pt x="4825" y="0"/>
                </a:lnTo>
                <a:lnTo>
                  <a:pt x="4884" y="16"/>
                </a:lnTo>
                <a:cubicBezTo>
                  <a:pt x="5044" y="63"/>
                  <a:pt x="5198" y="119"/>
                  <a:pt x="5344" y="186"/>
                </a:cubicBezTo>
                <a:cubicBezTo>
                  <a:pt x="6210" y="581"/>
                  <a:pt x="6877" y="1326"/>
                  <a:pt x="7271" y="2109"/>
                </a:cubicBezTo>
                <a:lnTo>
                  <a:pt x="7282" y="2130"/>
                </a:lnTo>
                <a:lnTo>
                  <a:pt x="7282" y="5206"/>
                </a:lnTo>
                <a:lnTo>
                  <a:pt x="7278" y="5216"/>
                </a:lnTo>
                <a:cubicBezTo>
                  <a:pt x="7067" y="5689"/>
                  <a:pt x="6810" y="6030"/>
                  <a:pt x="6556" y="6282"/>
                </a:cubicBezTo>
                <a:cubicBezTo>
                  <a:pt x="6641" y="6311"/>
                  <a:pt x="6719" y="6358"/>
                  <a:pt x="6785" y="6419"/>
                </a:cubicBezTo>
                <a:cubicBezTo>
                  <a:pt x="6981" y="6607"/>
                  <a:pt x="6959" y="6891"/>
                  <a:pt x="6490" y="7105"/>
                </a:cubicBezTo>
                <a:cubicBezTo>
                  <a:pt x="6065" y="7297"/>
                  <a:pt x="5625" y="7201"/>
                  <a:pt x="5433" y="7003"/>
                </a:cubicBezTo>
                <a:lnTo>
                  <a:pt x="5433" y="7004"/>
                </a:lnTo>
                <a:cubicBezTo>
                  <a:pt x="4014" y="7559"/>
                  <a:pt x="1945" y="7223"/>
                  <a:pt x="1006" y="6087"/>
                </a:cubicBezTo>
                <a:cubicBezTo>
                  <a:pt x="-531" y="4229"/>
                  <a:pt x="-260" y="2047"/>
                  <a:pt x="1502" y="590"/>
                </a:cubicBezTo>
                <a:cubicBezTo>
                  <a:pt x="1828" y="320"/>
                  <a:pt x="2228" y="126"/>
                  <a:pt x="2659" y="6"/>
                </a:cubicBezTo>
                <a:lnTo>
                  <a:pt x="2683" y="0"/>
                </a:lnTo>
                <a:close/>
              </a:path>
            </a:pathLst>
          </a:custGeom>
          <a:solidFill>
            <a:schemeClr val="accent1"/>
          </a:solidFill>
          <a:ln>
            <a:noFill/>
          </a:ln>
        </p:spPr>
        <p:txBody>
          <a:bodyPr vert="horz" anchor="ctr" wrap="square" tIns="45720" lIns="91440" bIns="45720" rIns="91440">
            <a:noAutofit/>
          </a:bodyPr>
          <a:p>
            <a:pPr algn="ctr" marL="0"/>
          </a:p>
        </p:txBody>
      </p:sp>
      <p:pic>
        <p:nvPicPr>
          <p:cNvPr name="image80.jpeg" id="4"/>
          <p:cNvPicPr>
            <a:picLocks noChangeAspect="true"/>
          </p:cNvPicPr>
          <p:nvPr/>
        </p:nvPicPr>
        <p:blipFill>
          <a:blip r:embed="rId2"/>
          <a:stretch>
            <a:fillRect/>
          </a:stretch>
        </p:blipFill>
        <p:spPr>
          <a:xfrm>
            <a:off x="7373620" y="13335"/>
            <a:ext cx="4832350" cy="4822190"/>
          </a:xfrm>
          <a:custGeom>
            <a:pathLst>
              <a:path w="6968" h="6953" stroke="true" fill="norm" extrusionOk="true">
                <a:moveTo>
                  <a:pt x="2567" y="0"/>
                </a:moveTo>
                <a:lnTo>
                  <a:pt x="4617" y="0"/>
                </a:lnTo>
                <a:lnTo>
                  <a:pt x="4673" y="15"/>
                </a:lnTo>
                <a:cubicBezTo>
                  <a:pt x="4826" y="60"/>
                  <a:pt x="4974" y="114"/>
                  <a:pt x="5113" y="178"/>
                </a:cubicBezTo>
                <a:cubicBezTo>
                  <a:pt x="5942" y="556"/>
                  <a:pt x="6580" y="1269"/>
                  <a:pt x="6957" y="2018"/>
                </a:cubicBezTo>
                <a:lnTo>
                  <a:pt x="6968" y="2038"/>
                </a:lnTo>
                <a:lnTo>
                  <a:pt x="6968" y="4982"/>
                </a:lnTo>
                <a:lnTo>
                  <a:pt x="6964" y="4991"/>
                </a:lnTo>
                <a:cubicBezTo>
                  <a:pt x="6762" y="5444"/>
                  <a:pt x="6516" y="5770"/>
                  <a:pt x="6273" y="6011"/>
                </a:cubicBezTo>
                <a:cubicBezTo>
                  <a:pt x="6354" y="6039"/>
                  <a:pt x="6429" y="6084"/>
                  <a:pt x="6492" y="6142"/>
                </a:cubicBezTo>
                <a:cubicBezTo>
                  <a:pt x="6680" y="6322"/>
                  <a:pt x="6659" y="6594"/>
                  <a:pt x="6210" y="6799"/>
                </a:cubicBezTo>
                <a:cubicBezTo>
                  <a:pt x="5803" y="6983"/>
                  <a:pt x="5382" y="6891"/>
                  <a:pt x="5199" y="6701"/>
                </a:cubicBezTo>
                <a:lnTo>
                  <a:pt x="5199" y="6702"/>
                </a:lnTo>
                <a:cubicBezTo>
                  <a:pt x="3841" y="7233"/>
                  <a:pt x="1861" y="6912"/>
                  <a:pt x="962" y="5825"/>
                </a:cubicBezTo>
                <a:cubicBezTo>
                  <a:pt x="-508" y="4047"/>
                  <a:pt x="-249" y="1959"/>
                  <a:pt x="1437" y="565"/>
                </a:cubicBezTo>
                <a:cubicBezTo>
                  <a:pt x="1749" y="306"/>
                  <a:pt x="2132" y="121"/>
                  <a:pt x="2544" y="6"/>
                </a:cubicBezTo>
                <a:lnTo>
                  <a:pt x="2567" y="0"/>
                </a:lnTo>
                <a:close/>
              </a:path>
            </a:pathLst>
          </a:custGeom>
          <a:solidFill>
            <a:schemeClr val="accent1"/>
          </a:solidFill>
          <a:ln w="9525">
            <a:solidFill>
              <a:schemeClr val="accent1"/>
            </a:solidFill>
          </a:ln>
        </p:spPr>
      </p:pic>
      <p:sp>
        <p:nvSpPr>
          <p:cNvPr name="Freeform 5" id="5"/>
          <p:cNvSpPr/>
          <p:nvPr/>
        </p:nvSpPr>
        <p:spPr>
          <a:xfrm>
            <a:off x="11803380" y="5060950"/>
            <a:ext cx="402590" cy="380365"/>
          </a:xfrm>
          <a:custGeom>
            <a:avLst/>
            <a:gdLst/>
            <a:ahLst/>
            <a:cxnLst/>
            <a:rect r="r" b="b" t="t" l="l"/>
            <a:pathLst>
              <a:path w="369050" h="356887" stroke="true" fill="norm" extrusionOk="true">
                <a:moveTo>
                  <a:pt x="206400" y="226"/>
                </a:moveTo>
                <a:cubicBezTo>
                  <a:pt x="232796" y="-1058"/>
                  <a:pt x="260778" y="3088"/>
                  <a:pt x="289760" y="14067"/>
                </a:cubicBezTo>
                <a:cubicBezTo>
                  <a:pt x="473899" y="84477"/>
                  <a:pt x="308602" y="423547"/>
                  <a:pt x="86879" y="345218"/>
                </a:cubicBezTo>
                <a:cubicBezTo>
                  <a:pt x="-85361" y="284346"/>
                  <a:pt x="21634" y="9218"/>
                  <a:pt x="206400" y="226"/>
                </a:cubicBezTo>
                <a:close/>
              </a:path>
            </a:pathLst>
          </a:custGeom>
          <a:solidFill>
            <a:schemeClr val="accent1"/>
          </a:solidFill>
          <a:ln cap="flat">
            <a:noFill/>
            <a:prstDash val="solid"/>
            <a:miter lim="800000"/>
          </a:ln>
        </p:spPr>
        <p:txBody>
          <a:bodyPr vert="horz" rot="0" anchor="ctr" wrap="square" tIns="45720" lIns="91440" bIns="45720" rIns="91440">
            <a:noAutofit/>
          </a:bodyPr>
          <a:p>
            <a:pPr algn="l" marL="0"/>
          </a:p>
        </p:txBody>
      </p:sp>
      <p:sp>
        <p:nvSpPr>
          <p:cNvPr name="Freeform 6" id="6"/>
          <p:cNvSpPr/>
          <p:nvPr/>
        </p:nvSpPr>
        <p:spPr>
          <a:xfrm>
            <a:off x="11753850" y="5060950"/>
            <a:ext cx="402590" cy="380365"/>
          </a:xfrm>
          <a:custGeom>
            <a:avLst/>
            <a:gdLst/>
            <a:ahLst/>
            <a:cxnLst/>
            <a:rect r="r" b="b" t="t" l="l"/>
            <a:pathLst>
              <a:path w="369050" h="356887" stroke="true" fill="norm" extrusionOk="true">
                <a:moveTo>
                  <a:pt x="206400" y="226"/>
                </a:moveTo>
                <a:cubicBezTo>
                  <a:pt x="232796" y="-1058"/>
                  <a:pt x="260778" y="3088"/>
                  <a:pt x="289760" y="14067"/>
                </a:cubicBezTo>
                <a:cubicBezTo>
                  <a:pt x="473899" y="84477"/>
                  <a:pt x="308602" y="423547"/>
                  <a:pt x="86879" y="345218"/>
                </a:cubicBezTo>
                <a:cubicBezTo>
                  <a:pt x="-85361" y="284346"/>
                  <a:pt x="21634" y="9218"/>
                  <a:pt x="206400" y="226"/>
                </a:cubicBezTo>
                <a:close/>
              </a:path>
            </a:pathLst>
          </a:custGeom>
          <a:noFill/>
          <a:ln w="19050" cap="flat">
            <a:solidFill>
              <a:srgbClr val="4A4A4A"/>
            </a:solidFill>
            <a:prstDash val="solid"/>
            <a:miter lim="800000"/>
          </a:ln>
        </p:spPr>
        <p:txBody>
          <a:bodyPr vert="horz" rot="0" anchor="ctr" wrap="square" tIns="45720" lIns="91440" bIns="45720" rIns="91440">
            <a:noAutofit/>
          </a:bodyPr>
          <a:p>
            <a:pPr algn="l" marL="0"/>
          </a:p>
        </p:txBody>
      </p:sp>
      <p:sp>
        <p:nvSpPr>
          <p:cNvPr name="TextBox 7" id="7"/>
          <p:cNvSpPr txBox="true"/>
          <p:nvPr/>
        </p:nvSpPr>
        <p:spPr>
          <a:xfrm>
            <a:off x="1059815" y="2402205"/>
            <a:ext cx="5039995" cy="2874010"/>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The technical flow involves several key steps: introducing a global search bar for user input, processing queries through an AI intent engine to identify modules and actions, mapping intents via a Spring Boot layer, and redirecting to appropriate controllers. This ensures seamless navigation using natural language inputs while maintaining existing system integrity.</a:t>
            </a:r>
            <a:endParaRPr lang="en-US" sz="1100"/>
          </a:p>
        </p:txBody>
      </p:sp>
      <p:sp>
        <p:nvSpPr>
          <p:cNvPr name="TextBox 8" id="8"/>
          <p:cNvSpPr txBox="true"/>
          <p:nvPr/>
        </p:nvSpPr>
        <p:spPr>
          <a:xfrm>
            <a:off x="1059815" y="1862455"/>
            <a:ext cx="5040000" cy="5397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Step-by-Step Navigation Process</a:t>
            </a:r>
            <a:endParaRPr lang="en-US" sz="1100"/>
          </a:p>
        </p:txBody>
      </p:sp>
      <p:sp>
        <p:nvSpPr>
          <p:cNvPr name="Freeform 9" id="9"/>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10" id="10"/>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Technical Workflow of NLN Implementation</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PART-04</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Connecting NLN to CADM Modules</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Freeform 2" id="2"/>
          <p:cNvSpPr/>
          <p:nvPr/>
        </p:nvSpPr>
        <p:spPr>
          <a:xfrm>
            <a:off x="4693285" y="2138680"/>
            <a:ext cx="6859905" cy="173990"/>
          </a:xfrm>
          <a:custGeom>
            <a:avLst/>
            <a:gdLst/>
            <a:ahLst/>
            <a:cxnLst/>
            <a:rect r="r" b="b" t="t" l="l"/>
            <a:pathLst>
              <a:path w="10803" h="274" stroke="true" fill="norm" extrusionOk="true">
                <a:moveTo>
                  <a:pt x="0" y="0"/>
                </a:moveTo>
                <a:lnTo>
                  <a:pt x="346" y="1"/>
                </a:lnTo>
                <a:lnTo>
                  <a:pt x="668" y="272"/>
                </a:lnTo>
                <a:lnTo>
                  <a:pt x="10803" y="274"/>
                </a:lnTo>
              </a:path>
            </a:pathLst>
          </a:custGeom>
          <a:noFill/>
          <a:ln w="6350">
            <a:gradFill>
              <a:gsLst>
                <a:gs pos="0">
                  <a:schemeClr val="accent1">
                    <a:alpha val="27000"/>
                  </a:schemeClr>
                </a:gs>
                <a:gs pos="100000">
                  <a:schemeClr val="accent1">
                    <a:alpha val="100000"/>
                  </a:schemeClr>
                </a:gs>
              </a:gsLst>
              <a:lin ang="10800000"/>
            </a:gradFill>
            <a:headEnd type="diamond"/>
            <a:tailEnd type="diamond"/>
          </a:ln>
        </p:spPr>
        <p:txBody>
          <a:bodyPr vert="horz" anchor="ctr" tIns="45720" lIns="91440" bIns="45720" rIns="91440"/>
          <a:p>
            <a:pPr algn="ctr" marL="0"/>
          </a:p>
        </p:txBody>
      </p:sp>
      <p:pic>
        <p:nvPicPr>
          <p:cNvPr name="image68.jpeg" id="3"/>
          <p:cNvPicPr>
            <a:picLocks noChangeAspect="true"/>
          </p:cNvPicPr>
          <p:nvPr/>
        </p:nvPicPr>
        <p:blipFill>
          <a:blip r:embed="rId2"/>
          <a:srcRect l="15671" r="15671"/>
          <a:stretch>
            <a:fillRect t="0" l="0" b="0" r="0"/>
          </a:stretch>
        </p:blipFill>
        <p:spPr>
          <a:xfrm>
            <a:off x="1182457" y="2185059"/>
            <a:ext cx="3259455" cy="3166745"/>
          </a:xfrm>
          <a:custGeom>
            <a:pathLst>
              <a:path w="5133" h="4987" stroke="true" fill="norm" extrusionOk="true">
                <a:moveTo>
                  <a:pt x="0" y="0"/>
                </a:moveTo>
                <a:lnTo>
                  <a:pt x="5133" y="0"/>
                </a:lnTo>
                <a:lnTo>
                  <a:pt x="5133" y="4987"/>
                </a:lnTo>
                <a:lnTo>
                  <a:pt x="0" y="4987"/>
                </a:lnTo>
                <a:lnTo>
                  <a:pt x="0" y="0"/>
                </a:lnTo>
                <a:close/>
              </a:path>
            </a:pathLst>
          </a:custGeom>
          <a:ln>
            <a:gradFill>
              <a:gsLst>
                <a:gs pos="0">
                  <a:schemeClr val="accent1">
                    <a:alpha val="0"/>
                  </a:schemeClr>
                </a:gs>
                <a:gs pos="100000">
                  <a:schemeClr val="accent1"/>
                </a:gs>
              </a:gsLst>
              <a:lin ang="16200000"/>
            </a:gradFill>
          </a:ln>
        </p:spPr>
      </p:pic>
      <p:sp>
        <p:nvSpPr>
          <p:cNvPr name="Freeform 4" id="4"/>
          <p:cNvSpPr/>
          <p:nvPr/>
        </p:nvSpPr>
        <p:spPr>
          <a:xfrm>
            <a:off x="937483" y="1893731"/>
            <a:ext cx="3749402" cy="3749402"/>
          </a:xfrm>
          <a:custGeom>
            <a:avLst/>
            <a:gdLst/>
            <a:ahLst/>
            <a:cxnLst/>
            <a:rect r="r" b="b" t="t" l="l"/>
            <a:pathLst>
              <a:path w="3749402" h="3749402" stroke="true" fill="norm" extrusionOk="true">
                <a:moveTo>
                  <a:pt x="0" y="0"/>
                </a:moveTo>
                <a:lnTo>
                  <a:pt x="3749402" y="0"/>
                </a:lnTo>
                <a:lnTo>
                  <a:pt x="3749402" y="3749402"/>
                </a:lnTo>
                <a:lnTo>
                  <a:pt x="3242443" y="3749402"/>
                </a:lnTo>
                <a:lnTo>
                  <a:pt x="3230680" y="3702351"/>
                </a:lnTo>
                <a:lnTo>
                  <a:pt x="2396290" y="3702351"/>
                </a:lnTo>
                <a:lnTo>
                  <a:pt x="2384527" y="3749402"/>
                </a:lnTo>
                <a:lnTo>
                  <a:pt x="2309755" y="3749402"/>
                </a:lnTo>
                <a:lnTo>
                  <a:pt x="2297992" y="3702351"/>
                </a:lnTo>
                <a:lnTo>
                  <a:pt x="1463602" y="3702351"/>
                </a:lnTo>
                <a:lnTo>
                  <a:pt x="1451839" y="3749402"/>
                </a:lnTo>
                <a:lnTo>
                  <a:pt x="1364875" y="3749402"/>
                </a:lnTo>
                <a:lnTo>
                  <a:pt x="1353112" y="3702351"/>
                </a:lnTo>
                <a:lnTo>
                  <a:pt x="518722" y="3702351"/>
                </a:lnTo>
                <a:lnTo>
                  <a:pt x="506959" y="3749402"/>
                </a:lnTo>
                <a:lnTo>
                  <a:pt x="0" y="3749402"/>
                </a:lnTo>
                <a:close/>
              </a:path>
            </a:pathLst>
          </a:custGeom>
          <a:noFill/>
          <a:ln w="6350">
            <a:solidFill>
              <a:schemeClr val="accent1">
                <a:alpha val="50000"/>
              </a:schemeClr>
            </a:solidFill>
          </a:ln>
        </p:spPr>
        <p:txBody>
          <a:bodyPr vert="horz" anchor="ctr" wrap="square" tIns="45720" lIns="91440" bIns="45720" rIns="91440">
            <a:noAutofit/>
          </a:bodyPr>
          <a:p>
            <a:pPr algn="ctr" marL="0"/>
          </a:p>
        </p:txBody>
      </p:sp>
      <p:sp>
        <p:nvSpPr>
          <p:cNvPr name="AutoShape 5" id="5"/>
          <p:cNvSpPr/>
          <p:nvPr/>
        </p:nvSpPr>
        <p:spPr>
          <a:xfrm>
            <a:off x="887413" y="1855631"/>
            <a:ext cx="97663" cy="97663"/>
          </a:xfrm>
          <a:prstGeom prst="rect">
            <a:avLst/>
          </a:prstGeom>
          <a:solidFill>
            <a:schemeClr val="accent1"/>
          </a:solidFill>
          <a:ln>
            <a:noFill/>
          </a:ln>
        </p:spPr>
        <p:txBody>
          <a:bodyPr vert="horz" anchor="ctr" tIns="45720" lIns="91440" bIns="45720" rIns="91440"/>
          <a:p>
            <a:pPr algn="ctr" marL="0"/>
          </a:p>
        </p:txBody>
      </p:sp>
      <p:sp>
        <p:nvSpPr>
          <p:cNvPr name="AutoShape 6" id="6"/>
          <p:cNvSpPr/>
          <p:nvPr/>
        </p:nvSpPr>
        <p:spPr>
          <a:xfrm>
            <a:off x="887413" y="5578487"/>
            <a:ext cx="97663" cy="97663"/>
          </a:xfrm>
          <a:prstGeom prst="rect">
            <a:avLst/>
          </a:prstGeom>
          <a:solidFill>
            <a:schemeClr val="accent1"/>
          </a:solidFill>
          <a:ln>
            <a:noFill/>
          </a:ln>
        </p:spPr>
        <p:txBody>
          <a:bodyPr vert="horz" anchor="ctr" tIns="45720" lIns="91440" bIns="45720" rIns="91440"/>
          <a:p>
            <a:pPr algn="ctr" marL="0"/>
          </a:p>
        </p:txBody>
      </p:sp>
      <p:sp>
        <p:nvSpPr>
          <p:cNvPr name="AutoShape 7" id="7"/>
          <p:cNvSpPr/>
          <p:nvPr/>
        </p:nvSpPr>
        <p:spPr>
          <a:xfrm>
            <a:off x="4636453" y="1860711"/>
            <a:ext cx="97663" cy="97663"/>
          </a:xfrm>
          <a:prstGeom prst="rect">
            <a:avLst/>
          </a:prstGeom>
          <a:solidFill>
            <a:schemeClr val="accent1"/>
          </a:solidFill>
          <a:ln>
            <a:noFill/>
          </a:ln>
        </p:spPr>
        <p:txBody>
          <a:bodyPr vert="horz" anchor="ctr" tIns="45720" lIns="91440" bIns="45720" rIns="91440"/>
          <a:p>
            <a:pPr algn="ctr" marL="0"/>
          </a:p>
        </p:txBody>
      </p:sp>
      <p:sp>
        <p:nvSpPr>
          <p:cNvPr name="AutoShape 8" id="8"/>
          <p:cNvSpPr/>
          <p:nvPr/>
        </p:nvSpPr>
        <p:spPr>
          <a:xfrm>
            <a:off x="4636453" y="5583567"/>
            <a:ext cx="97663" cy="97663"/>
          </a:xfrm>
          <a:prstGeom prst="rect">
            <a:avLst/>
          </a:prstGeom>
          <a:solidFill>
            <a:schemeClr val="accent1"/>
          </a:solidFill>
          <a:ln>
            <a:noFill/>
          </a:ln>
        </p:spPr>
        <p:txBody>
          <a:bodyPr vert="horz" anchor="ctr" tIns="45720" lIns="91440" bIns="45720" rIns="91440"/>
          <a:p>
            <a:pPr algn="ctr" marL="0"/>
          </a:p>
        </p:txBody>
      </p:sp>
      <p:sp>
        <p:nvSpPr>
          <p:cNvPr name="Freeform 9" id="9"/>
          <p:cNvSpPr/>
          <p:nvPr/>
        </p:nvSpPr>
        <p:spPr>
          <a:xfrm>
            <a:off x="994410" y="5635706"/>
            <a:ext cx="1264920" cy="72390"/>
          </a:xfrm>
          <a:custGeom>
            <a:avLst/>
            <a:gdLst/>
            <a:ahLst/>
            <a:cxnLst/>
            <a:rect r="r" b="b" t="t" l="l"/>
            <a:pathLst>
              <a:path w="1264920" h="72390" stroke="true" fill="norm" extrusionOk="true">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txBody>
          <a:bodyPr vert="horz" anchor="ctr" tIns="45720" lIns="91440" bIns="45720" rIns="91440"/>
          <a:p>
            <a:pPr algn="ctr" marL="0"/>
          </a:p>
        </p:txBody>
      </p:sp>
      <p:sp>
        <p:nvSpPr>
          <p:cNvPr name="Freeform 10" id="10"/>
          <p:cNvSpPr/>
          <p:nvPr/>
        </p:nvSpPr>
        <p:spPr>
          <a:xfrm rot="5400000">
            <a:off x="4131945" y="5041900"/>
            <a:ext cx="908050" cy="61595"/>
          </a:xfrm>
          <a:custGeom>
            <a:avLst/>
            <a:gdLst/>
            <a:ahLst/>
            <a:cxnLst/>
            <a:rect r="r" b="b" t="t" l="l"/>
            <a:pathLst>
              <a:path w="1430" h="97" stroke="true" fill="norm" extrusionOk="true">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rotWithShape="true" flip="none">
            <a:gsLst>
              <a:gs pos="0">
                <a:schemeClr val="accent1"/>
              </a:gs>
              <a:gs pos="100000">
                <a:schemeClr val="accent1">
                  <a:alpha val="0"/>
                </a:schemeClr>
              </a:gs>
            </a:gsLst>
            <a:tileRect/>
          </a:gradFill>
          <a:ln>
            <a:noFill/>
          </a:ln>
          <a:effectLst>
            <a:outerShdw algn="ctr" blurRad="127000" rotWithShape="false">
              <a:schemeClr val="accent1">
                <a:alpha val="40000"/>
              </a:schemeClr>
            </a:outerShdw>
          </a:effectLst>
        </p:spPr>
        <p:txBody>
          <a:bodyPr vert="horz" rot="0" anchor="ctr" wrap="square" tIns="45720" lIns="91440" bIns="45720" rIns="91440">
            <a:noAutofit/>
          </a:bodyPr>
          <a:p>
            <a:pPr algn="ctr" marL="0"/>
          </a:p>
        </p:txBody>
      </p:sp>
      <p:sp>
        <p:nvSpPr>
          <p:cNvPr name="Freeform 11" id="11"/>
          <p:cNvSpPr/>
          <p:nvPr/>
        </p:nvSpPr>
        <p:spPr>
          <a:xfrm flipH="true">
            <a:off x="3359150" y="5635706"/>
            <a:ext cx="1264920" cy="72390"/>
          </a:xfrm>
          <a:custGeom>
            <a:avLst/>
            <a:gdLst/>
            <a:ahLst/>
            <a:cxnLst/>
            <a:rect r="r" b="b" t="t" l="l"/>
            <a:pathLst>
              <a:path w="1264920" h="72390" stroke="true" fill="norm" extrusionOk="true">
                <a:moveTo>
                  <a:pt x="0" y="72390"/>
                </a:moveTo>
                <a:lnTo>
                  <a:pt x="480060" y="72390"/>
                </a:lnTo>
                <a:lnTo>
                  <a:pt x="491490" y="0"/>
                </a:lnTo>
                <a:lnTo>
                  <a:pt x="1253490" y="0"/>
                </a:lnTo>
                <a:lnTo>
                  <a:pt x="1264920" y="0"/>
                </a:lnTo>
              </a:path>
            </a:pathLst>
          </a:custGeom>
          <a:noFill/>
          <a:ln w="12700">
            <a:solidFill>
              <a:schemeClr val="accent1">
                <a:alpha val="70000"/>
              </a:schemeClr>
            </a:solidFill>
          </a:ln>
          <a:effectLst/>
        </p:spPr>
        <p:txBody>
          <a:bodyPr vert="horz" anchor="ctr" tIns="45720" lIns="91440" bIns="45720" rIns="91440"/>
          <a:p>
            <a:pPr algn="ctr" marL="0"/>
          </a:p>
        </p:txBody>
      </p:sp>
      <p:grpSp>
        <p:nvGrpSpPr>
          <p:cNvPr name="Group 12" id="12"/>
          <p:cNvGrpSpPr/>
          <p:nvPr/>
        </p:nvGrpSpPr>
        <p:grpSpPr>
          <a:xfrm>
            <a:off x="5067935" y="2405380"/>
            <a:ext cx="5868670" cy="3121660"/>
            <a:chOff x="7981" y="3788"/>
            <a:chExt cx="9242" cy="4916"/>
          </a:xfrm>
        </p:grpSpPr>
        <p:sp>
          <p:nvSpPr>
            <p:cNvPr name="TextBox 13" id="13"/>
            <p:cNvSpPr txBox="true"/>
            <p:nvPr/>
          </p:nvSpPr>
          <p:spPr>
            <a:xfrm>
              <a:off x="7981" y="4638"/>
              <a:ext cx="9242" cy="4066"/>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NLN can be mapped to various CADM modules, including Group Setup, Company Setup, User Management, Authorization Matrix, and Channel Configuration. For example, users can issue commands like "Open group ABC" or "Edit users for XYZ," and the system translates these into actionable navigation paths, enhancing accessibility across the system.</a:t>
              </a:r>
              <a:endParaRPr lang="en-US" sz="1100"/>
            </a:p>
          </p:txBody>
        </p:sp>
        <p:sp>
          <p:nvSpPr>
            <p:cNvPr name="TextBox 14" id="14"/>
            <p:cNvSpPr txBox="true"/>
            <p:nvPr/>
          </p:nvSpPr>
          <p:spPr>
            <a:xfrm>
              <a:off x="7981" y="3788"/>
              <a:ext cx="9242"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Key Modules Supported by NLN</a:t>
              </a:r>
              <a:endParaRPr lang="en-US" sz="1100"/>
            </a:p>
          </p:txBody>
        </p:sp>
      </p:grpSp>
      <p:sp>
        <p:nvSpPr>
          <p:cNvPr name="Freeform 15" id="15"/>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16" id="16"/>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Mapping Natural Language to System Components</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pic>
        <p:nvPicPr>
          <p:cNvPr name="image65.jpeg" id="2"/>
          <p:cNvPicPr>
            <a:picLocks noChangeAspect="true"/>
          </p:cNvPicPr>
          <p:nvPr/>
        </p:nvPicPr>
        <p:blipFill rotWithShape="true">
          <a:blip r:embed="rId2"/>
          <a:srcRect l="7158" r="7158"/>
          <a:stretch>
            <a:fillRect t="0" l="0" b="0" r="0"/>
          </a:stretch>
        </p:blipFill>
        <p:spPr>
          <a:xfrm>
            <a:off x="695325" y="1805552"/>
            <a:ext cx="5344505" cy="4161294"/>
          </a:xfrm>
          <a:custGeom>
            <a:pathLst>
              <a:path w="5198414" h="3959816" stroke="true" fill="norm" extrusionOk="true">
                <a:moveTo>
                  <a:pt x="0" y="0"/>
                </a:moveTo>
                <a:lnTo>
                  <a:pt x="5198414" y="0"/>
                </a:lnTo>
                <a:lnTo>
                  <a:pt x="5198414" y="3959816"/>
                </a:lnTo>
                <a:lnTo>
                  <a:pt x="0" y="3959816"/>
                </a:lnTo>
                <a:close/>
              </a:path>
            </a:pathLst>
          </a:custGeom>
          <a:ln w="9525" cap="flat" cmpd="sng">
            <a:solidFill>
              <a:schemeClr val="dk1">
                <a:alpha val="50000"/>
                <a:lumMod val="40000"/>
                <a:lumOff val="60000"/>
              </a:schemeClr>
            </a:solidFill>
            <a:prstDash val="solid"/>
          </a:ln>
        </p:spPr>
      </p:pic>
      <p:sp>
        <p:nvSpPr>
          <p:cNvPr name="AutoShape 3" id="3"/>
          <p:cNvSpPr/>
          <p:nvPr/>
        </p:nvSpPr>
        <p:spPr>
          <a:xfrm>
            <a:off x="6152168" y="1805552"/>
            <a:ext cx="5343831" cy="4161295"/>
          </a:xfrm>
          <a:prstGeom prst="rect">
            <a:avLst/>
          </a:prstGeom>
          <a:gradFill>
            <a:gsLst>
              <a:gs pos="0">
                <a:srgbClr val="FEFFFF"/>
              </a:gs>
              <a:gs pos="100000">
                <a:srgbClr val="EAF4F7"/>
              </a:gs>
            </a:gsLst>
            <a:lin ang="1320000"/>
          </a:gradFill>
          <a:ln>
            <a:noFill/>
          </a:ln>
        </p:spPr>
        <p:txBody>
          <a:bodyPr vert="horz" anchor="ctr" tIns="45720" lIns="91440" bIns="45720" rIns="91440"/>
          <a:p>
            <a:pPr algn="ctr" marL="0"/>
          </a:p>
        </p:txBody>
      </p:sp>
      <p:grpSp>
        <p:nvGrpSpPr>
          <p:cNvPr name="Group 4" id="4"/>
          <p:cNvGrpSpPr/>
          <p:nvPr/>
        </p:nvGrpSpPr>
        <p:grpSpPr>
          <a:xfrm>
            <a:off x="6304404" y="2179319"/>
            <a:ext cx="5039360" cy="3413760"/>
            <a:chOff x="1805" y="3251"/>
            <a:chExt cx="7936" cy="5376"/>
          </a:xfrm>
          <a:noFill/>
        </p:grpSpPr>
        <p:sp>
          <p:nvSpPr>
            <p:cNvPr name="TextBox 5" id="5"/>
            <p:cNvSpPr txBox="true"/>
            <p:nvPr/>
          </p:nvSpPr>
          <p:spPr>
            <a:xfrm>
              <a:off x="1805" y="4101"/>
              <a:ext cx="7937" cy="4526"/>
            </a:xfrm>
            <a:prstGeom prst="rect">
              <a:avLst/>
            </a:prstGeom>
            <a:grpFill/>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For environments with strict compliance requirements, a hybrid approach using keyword detection and NLP libraries like spaCy can classify intents without complex AI models. This method balances security with natural language capability, ensuring that navigation enhancements do not compromise regulatory standards or system integrity.</a:t>
              </a:r>
              <a:endParaRPr lang="en-US" sz="1100"/>
            </a:p>
          </p:txBody>
        </p:sp>
        <p:sp>
          <p:nvSpPr>
            <p:cNvPr name="TextBox 6" id="6"/>
            <p:cNvSpPr txBox="true"/>
            <p:nvPr/>
          </p:nvSpPr>
          <p:spPr>
            <a:xfrm>
              <a:off x="1805" y="3251"/>
              <a:ext cx="7937" cy="850"/>
            </a:xfrm>
            <a:prstGeom prst="rect">
              <a:avLst/>
            </a:prstGeom>
            <a:grp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Keyword Detection and NLP Libraries</a:t>
              </a:r>
              <a:endParaRPr lang="en-US" sz="1100"/>
            </a:p>
          </p:txBody>
        </p:sp>
      </p:grpSp>
      <p:sp>
        <p:nvSpPr>
          <p:cNvPr name="Freeform 7" id="7"/>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8" id="8"/>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Hybrid Approaches for Compliance-Driven Environments</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PART-05</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Security and Compliance Considerations</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AutoShape 2" id="2"/>
          <p:cNvSpPr/>
          <p:nvPr/>
        </p:nvSpPr>
        <p:spPr>
          <a:xfrm>
            <a:off x="6477000" y="2165985"/>
            <a:ext cx="5346065" cy="3856990"/>
          </a:xfrm>
          <a:prstGeom prst="roundRect">
            <a:avLst>
              <a:gd name="adj" fmla="val 3764"/>
            </a:avLst>
          </a:prstGeom>
          <a:solidFill>
            <a:srgbClr val="007C98">
              <a:alpha val="25000"/>
            </a:srgbClr>
          </a:solidFill>
          <a:ln>
            <a:noFill/>
          </a:ln>
          <a:effectLst>
            <a:outerShdw algn="tl" blurRad="254000" dir="2700000" dist="25400" rotWithShape="false">
              <a:schemeClr val="tx1">
                <a:alpha val="20000"/>
                <a:lumMod val="50000"/>
                <a:lumOff val="50000"/>
              </a:schemeClr>
            </a:outerShdw>
          </a:effectLst>
        </p:spPr>
        <p:txBody>
          <a:bodyPr vert="horz" anchor="ctr" wrap="square" tIns="45720" lIns="91440" bIns="45720" rIns="91440">
            <a:noAutofit/>
          </a:bodyPr>
          <a:p>
            <a:pPr algn="ctr" marL="0"/>
          </a:p>
        </p:txBody>
      </p:sp>
      <p:sp>
        <p:nvSpPr>
          <p:cNvPr name="AutoShape 3" id="3"/>
          <p:cNvSpPr/>
          <p:nvPr/>
        </p:nvSpPr>
        <p:spPr>
          <a:xfrm>
            <a:off x="6277610" y="1886585"/>
            <a:ext cx="5346065" cy="3856990"/>
          </a:xfrm>
          <a:prstGeom prst="roundRect">
            <a:avLst>
              <a:gd name="adj" fmla="val 3764"/>
            </a:avLst>
          </a:prstGeom>
          <a:solidFill>
            <a:srgbClr val="007C98">
              <a:alpha val="55000"/>
            </a:srgbClr>
          </a:solidFill>
          <a:ln>
            <a:noFill/>
          </a:ln>
          <a:effectLst>
            <a:outerShdw algn="tl" blurRad="254000" dir="2700000" dist="25400" rotWithShape="false">
              <a:schemeClr val="tx1">
                <a:alpha val="20000"/>
                <a:lumMod val="50000"/>
                <a:lumOff val="50000"/>
              </a:schemeClr>
            </a:outerShdw>
          </a:effectLst>
        </p:spPr>
        <p:txBody>
          <a:bodyPr vert="horz" anchor="ctr" wrap="square" tIns="45720" lIns="91440" bIns="45720" rIns="91440">
            <a:noAutofit/>
          </a:bodyPr>
          <a:p>
            <a:pPr algn="ctr" marL="0"/>
          </a:p>
        </p:txBody>
      </p:sp>
      <p:sp>
        <p:nvSpPr>
          <p:cNvPr name="AutoShape 4" id="4"/>
          <p:cNvSpPr/>
          <p:nvPr/>
        </p:nvSpPr>
        <p:spPr>
          <a:xfrm>
            <a:off x="6068695" y="1607185"/>
            <a:ext cx="5346065" cy="3856990"/>
          </a:xfrm>
          <a:prstGeom prst="roundRect">
            <a:avLst>
              <a:gd name="adj" fmla="val 3764"/>
            </a:avLst>
          </a:prstGeom>
          <a:solidFill>
            <a:srgbClr val="007C98"/>
          </a:solidFill>
          <a:ln>
            <a:noFill/>
          </a:ln>
          <a:effectLst>
            <a:outerShdw algn="tl" blurRad="254000" dir="2700000" dist="25400" rotWithShape="false">
              <a:schemeClr val="tx1">
                <a:alpha val="20000"/>
                <a:lumMod val="50000"/>
                <a:lumOff val="50000"/>
              </a:schemeClr>
            </a:outerShdw>
          </a:effectLst>
        </p:spPr>
        <p:txBody>
          <a:bodyPr vert="horz" anchor="ctr" wrap="square" tIns="45720" lIns="91440" bIns="45720" rIns="91440">
            <a:noAutofit/>
          </a:bodyPr>
          <a:p>
            <a:pPr algn="ctr" marL="0"/>
          </a:p>
        </p:txBody>
      </p:sp>
      <p:pic>
        <p:nvPicPr>
          <p:cNvPr name="image73.jpeg" id="5"/>
          <p:cNvPicPr>
            <a:picLocks noChangeAspect="true"/>
          </p:cNvPicPr>
          <p:nvPr/>
        </p:nvPicPr>
        <p:blipFill>
          <a:blip r:embed="rId2"/>
          <a:srcRect l="1754" r="1754"/>
          <a:stretch>
            <a:fillRect t="0" l="0" b="0" r="0"/>
          </a:stretch>
        </p:blipFill>
        <p:spPr>
          <a:xfrm>
            <a:off x="6386195" y="1956435"/>
            <a:ext cx="4711700" cy="3257550"/>
          </a:xfrm>
          <a:custGeom>
            <a:pathLst>
              <a:path w="7420" h="3602" stroke="true" fill="norm" extrusionOk="true">
                <a:moveTo>
                  <a:pt x="136" y="0"/>
                </a:moveTo>
                <a:lnTo>
                  <a:pt x="7284" y="0"/>
                </a:lnTo>
                <a:cubicBezTo>
                  <a:pt x="7359" y="0"/>
                  <a:pt x="7420" y="61"/>
                  <a:pt x="7420" y="136"/>
                </a:cubicBezTo>
                <a:lnTo>
                  <a:pt x="7420" y="3466"/>
                </a:lnTo>
                <a:cubicBezTo>
                  <a:pt x="7420" y="3541"/>
                  <a:pt x="7359" y="3602"/>
                  <a:pt x="7284" y="3602"/>
                </a:cubicBezTo>
                <a:lnTo>
                  <a:pt x="136" y="3602"/>
                </a:lnTo>
                <a:cubicBezTo>
                  <a:pt x="61" y="3602"/>
                  <a:pt x="0" y="3541"/>
                  <a:pt x="0" y="3466"/>
                </a:cubicBezTo>
                <a:lnTo>
                  <a:pt x="0" y="136"/>
                </a:lnTo>
                <a:cubicBezTo>
                  <a:pt x="0" y="61"/>
                  <a:pt x="61" y="0"/>
                  <a:pt x="136" y="0"/>
                </a:cubicBezTo>
                <a:close/>
              </a:path>
            </a:pathLst>
          </a:custGeom>
          <a:ln w="3175" cap="flat" cmpd="sng">
            <a:solidFill>
              <a:schemeClr val="tx1">
                <a:alpha val="20000"/>
                <a:lumMod val="40000"/>
                <a:lumOff val="60000"/>
              </a:schemeClr>
            </a:solidFill>
            <a:prstDash val="solid"/>
          </a:ln>
        </p:spPr>
      </p:pic>
      <p:grpSp>
        <p:nvGrpSpPr>
          <p:cNvPr name="Group 6" id="6"/>
          <p:cNvGrpSpPr/>
          <p:nvPr/>
        </p:nvGrpSpPr>
        <p:grpSpPr>
          <a:xfrm>
            <a:off x="685165" y="1878330"/>
            <a:ext cx="5039360" cy="3413760"/>
            <a:chOff x="1805" y="3251"/>
            <a:chExt cx="7936" cy="5376"/>
          </a:xfrm>
        </p:grpSpPr>
        <p:sp>
          <p:nvSpPr>
            <p:cNvPr name="TextBox 7" id="7"/>
            <p:cNvSpPr txBox="true"/>
            <p:nvPr/>
          </p:nvSpPr>
          <p:spPr>
            <a:xfrm>
              <a:off x="1805" y="4101"/>
              <a:ext cx="7937" cy="4526"/>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NLN implementation adheres to strict banking security guidelines: users must have existing access to modules, AI cannot override permissions, all interactions are logged for audit, and the system operates in read-only mode for navigation. These measures ensure that enhanced navigation does not compromise the integrity of the banking system.</a:t>
              </a:r>
              <a:endParaRPr lang="en-US" sz="1100"/>
            </a:p>
          </p:txBody>
        </p:sp>
        <p:sp>
          <p:nvSpPr>
            <p:cNvPr name="TextBox 8" id="8"/>
            <p:cNvSpPr txBox="true"/>
            <p:nvPr/>
          </p:nvSpPr>
          <p:spPr>
            <a:xfrm>
              <a:off x="1805" y="3251"/>
              <a:ext cx="7937"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Adherence to Strict Security Guidelines</a:t>
              </a:r>
              <a:endParaRPr lang="en-US" sz="1100"/>
            </a:p>
          </p:txBody>
        </p:sp>
      </p:grpSp>
      <p:sp>
        <p:nvSpPr>
          <p:cNvPr name="Freeform 9" id="9"/>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10" id="10"/>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Ensuring Safe Navigation in Banking Operations</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TextBox 2" id="2"/>
          <p:cNvSpPr txBox="true"/>
          <p:nvPr/>
        </p:nvSpPr>
        <p:spPr>
          <a:xfrm>
            <a:off x="4109085" y="2458085"/>
            <a:ext cx="8077200" cy="2881630"/>
          </a:xfrm>
          <a:prstGeom prst="rect">
            <a:avLst/>
          </a:prstGeom>
          <a:solidFill>
            <a:srgbClr val="DAECF0"/>
          </a:solidFill>
        </p:spPr>
        <p:txBody>
          <a:bodyPr anchor="t" rtlCol="false" vert="horz" tIns="46990" lIns="90170" bIns="46990" rIns="90170">
            <a:normAutofit/>
          </a:bodyPr>
          <a:lstStyle/>
          <a:p>
            <a:pPr algn="ctr" indent="0" marL="0">
              <a:lnSpc>
                <a:spcPts val="2660"/>
              </a:lnSpc>
              <a:spcBef>
                <a:spcPct val="0"/>
              </a:spcBef>
              <a:defRPr/>
            </a:pPr>
            <a:endParaRPr lang="en-US" sz="1100"/>
          </a:p>
        </p:txBody>
      </p:sp>
      <p:sp>
        <p:nvSpPr>
          <p:cNvPr name="Freeform 3" id="3"/>
          <p:cNvSpPr/>
          <p:nvPr/>
        </p:nvSpPr>
        <p:spPr>
          <a:xfrm>
            <a:off x="685800" y="1871345"/>
            <a:ext cx="4126865" cy="4126865"/>
          </a:xfrm>
          <a:custGeom>
            <a:avLst/>
            <a:gdLst/>
            <a:ahLst/>
            <a:cxnLst/>
            <a:rect r="r" b="b" t="t" l="l"/>
            <a:pathLst>
              <a:path w="812800" h="812800" stroke="true" fill="norm" extrusionOk="true">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C98"/>
          </a:solidFill>
          <a:ln cap="sq">
            <a:noFill/>
            <a:prstDash val="solid"/>
            <a:miter lim="800000"/>
          </a:ln>
        </p:spPr>
      </p:sp>
      <p:sp>
        <p:nvSpPr>
          <p:cNvPr name="Freeform 4" id="4"/>
          <p:cNvSpPr/>
          <p:nvPr/>
        </p:nvSpPr>
        <p:spPr>
          <a:xfrm>
            <a:off x="798195" y="1985645"/>
            <a:ext cx="3902075" cy="3898265"/>
          </a:xfrm>
          <a:custGeom>
            <a:avLst/>
            <a:gdLst/>
            <a:ahLst/>
            <a:cxnLst/>
            <a:rect r="r" b="b" t="t" l="l"/>
            <a:pathLst>
              <a:path w="5839079" h="5833364" stroke="true" fill="norm" extrusionOk="true">
                <a:moveTo>
                  <a:pt x="0" y="2916682"/>
                </a:moveTo>
                <a:cubicBezTo>
                  <a:pt x="0" y="1305814"/>
                  <a:pt x="1307084" y="0"/>
                  <a:pt x="2919603" y="0"/>
                </a:cubicBezTo>
                <a:cubicBezTo>
                  <a:pt x="4532122" y="0"/>
                  <a:pt x="5839079" y="1305814"/>
                  <a:pt x="5839079" y="2916682"/>
                </a:cubicBezTo>
                <a:cubicBezTo>
                  <a:pt x="5839079" y="4527550"/>
                  <a:pt x="4531995" y="5833364"/>
                  <a:pt x="2919603" y="5833364"/>
                </a:cubicBezTo>
                <a:cubicBezTo>
                  <a:pt x="1307211" y="5833364"/>
                  <a:pt x="0" y="4527550"/>
                  <a:pt x="0" y="2916682"/>
                </a:cubicBezTo>
                <a:close/>
              </a:path>
            </a:pathLst>
          </a:custGeom>
          <a:blipFill rotWithShape="true">
            <a:blip r:embed="rId2"/>
            <a:stretch>
              <a:fillRect t="0" l="-30892" b="0" r="-30892"/>
            </a:stretch>
          </a:blipFill>
        </p:spPr>
      </p:sp>
      <p:sp>
        <p:nvSpPr>
          <p:cNvPr name="TextBox 5" id="5"/>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Audit Logging and Permission Enforcement</a:t>
            </a:r>
            <a:endParaRPr lang="en-US" sz="1100"/>
          </a:p>
        </p:txBody>
      </p:sp>
      <p:sp>
        <p:nvSpPr>
          <p:cNvPr name="TextBox 6" id="6"/>
          <p:cNvSpPr txBox="true"/>
          <p:nvPr/>
        </p:nvSpPr>
        <p:spPr>
          <a:xfrm>
            <a:off x="5191760" y="3215005"/>
            <a:ext cx="6480175" cy="1800225"/>
          </a:xfrm>
          <a:prstGeom prst="rect">
            <a:avLst/>
          </a:prstGeom>
        </p:spPr>
        <p:txBody>
          <a:bodyPr anchor="t" rtlCol="false" vert="horz"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The system logs all user interactions for audit purposes, ensuring transparency and accountability. Permission enforcement guarantees that users can only navigate to modules they are authorized to access, preventing unauthorized actions. This robust security framework supports compliance while delivering a modern user experience.</a:t>
            </a:r>
            <a:endParaRPr lang="en-US" sz="1100"/>
          </a:p>
        </p:txBody>
      </p:sp>
      <p:sp>
        <p:nvSpPr>
          <p:cNvPr name="TextBox 7" id="7"/>
          <p:cNvSpPr txBox="true"/>
          <p:nvPr/>
        </p:nvSpPr>
        <p:spPr>
          <a:xfrm>
            <a:off x="5191760" y="2783205"/>
            <a:ext cx="6480175" cy="431800"/>
          </a:xfrm>
          <a:prstGeom prst="rect">
            <a:avLst/>
          </a:prstGeom>
        </p:spPr>
        <p:txBody>
          <a:bodyPr anchor="ctr" rtlCol="false" vert="horz" wrap="square" tIns="46990" lIns="90170" bIns="46990" rIns="90170">
            <a:normAutofit/>
          </a:bodyPr>
          <a:lstStyle/>
          <a:p>
            <a:pPr algn="l" fontAlgn="auto" indent="0" marL="0">
              <a:lnSpc>
                <a:spcPct val="90000"/>
              </a:lnSpc>
              <a:defRPr/>
            </a:pPr>
            <a:r>
              <a:rPr lang="en-US" b="true" i="false" sz="2000" baseline="0" u="none">
                <a:solidFill>
                  <a:srgbClr val="007C98"/>
                </a:solidFill>
                <a:latin typeface="思源黑体 Normal"/>
                <a:ea typeface="思源黑体 Normal"/>
              </a:rPr>
              <a:t>Maintaining System Integrity Through Controls</a:t>
            </a:r>
            <a:endParaRPr lang="en-US" sz="1100"/>
          </a:p>
        </p:txBody>
      </p:sp>
      <p:sp>
        <p:nvSpPr>
          <p:cNvPr name="Freeform 8" id="8"/>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Tree>
  </p:cSld>
  <p:clrMapOvr>
    <a:masterClrMapping/>
  </p:clrMapOvr>
  <p:transition spd="fast" advClick="false"/>
</p:sld>
</file>

<file path=ppt/slides/slide17.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PART-06</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Advanced Enhancements and Future Capabilities</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AutoShape 2" id="2"/>
          <p:cNvSpPr/>
          <p:nvPr/>
        </p:nvSpPr>
        <p:spPr>
          <a:xfrm>
            <a:off x="685165" y="1149350"/>
            <a:ext cx="3568065" cy="3641090"/>
          </a:xfrm>
          <a:prstGeom prst="parallelogram">
            <a:avLst>
              <a:gd name="adj" fmla="val 17860"/>
            </a:avLst>
          </a:prstGeom>
          <a:solidFill>
            <a:srgbClr val="007C98">
              <a:alpha val="50000"/>
            </a:srgbClr>
          </a:solidFill>
          <a:ln>
            <a:noFill/>
          </a:ln>
        </p:spPr>
        <p:txBody>
          <a:bodyPr vert="horz" anchor="ctr" tIns="45720" lIns="91440" bIns="45720" rIns="91440"/>
          <a:p>
            <a:pPr algn="ctr" marL="0"/>
          </a:p>
        </p:txBody>
      </p:sp>
      <p:pic>
        <p:nvPicPr>
          <p:cNvPr name="image70.jpeg" id="3"/>
          <p:cNvPicPr>
            <a:picLocks noChangeAspect="true"/>
          </p:cNvPicPr>
          <p:nvPr/>
        </p:nvPicPr>
        <p:blipFill rotWithShape="true">
          <a:blip r:embed="rId2"/>
          <a:srcRect l="19423" r="19423"/>
          <a:stretch>
            <a:fillRect t="0" l="0" b="0" r="0"/>
          </a:stretch>
        </p:blipFill>
        <p:spPr>
          <a:xfrm>
            <a:off x="977128" y="1453247"/>
            <a:ext cx="4244340" cy="4636314"/>
          </a:xfrm>
          <a:custGeom>
            <a:pathLst>
              <a:path w="4244340" h="4636314" stroke="true" fill="norm" extrusionOk="true">
                <a:moveTo>
                  <a:pt x="765509" y="0"/>
                </a:moveTo>
                <a:lnTo>
                  <a:pt x="4244340" y="0"/>
                </a:lnTo>
                <a:lnTo>
                  <a:pt x="3478832" y="4636314"/>
                </a:lnTo>
                <a:lnTo>
                  <a:pt x="0" y="4636314"/>
                </a:lnTo>
                <a:close/>
              </a:path>
            </a:pathLst>
          </a:custGeom>
          <a:ln w="9525" cap="flat" cmpd="sng">
            <a:solidFill>
              <a:schemeClr val="dk1">
                <a:alpha val="50000"/>
                <a:lumMod val="40000"/>
                <a:lumOff val="60000"/>
              </a:schemeClr>
            </a:solidFill>
            <a:prstDash val="solid"/>
          </a:ln>
        </p:spPr>
      </p:pic>
      <p:sp>
        <p:nvSpPr>
          <p:cNvPr name="TextBox 4" id="4"/>
          <p:cNvSpPr txBox="true"/>
          <p:nvPr/>
        </p:nvSpPr>
        <p:spPr>
          <a:xfrm>
            <a:off x="5553710" y="2604135"/>
            <a:ext cx="5039995" cy="2874010"/>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The NLN system can be enhanced to support quick actions, such as "Disable user John" or "Generate matrix preview." The system can prompt for confirmation before executing existing APIs, creating a more interactive and efficient user experience. This capability allows for faster task completion and reduces manual steps.</a:t>
            </a:r>
            <a:endParaRPr lang="en-US" sz="1100"/>
          </a:p>
        </p:txBody>
      </p:sp>
      <p:sp>
        <p:nvSpPr>
          <p:cNvPr name="TextBox 5" id="5"/>
          <p:cNvSpPr txBox="true"/>
          <p:nvPr/>
        </p:nvSpPr>
        <p:spPr>
          <a:xfrm>
            <a:off x="5553710" y="2064385"/>
            <a:ext cx="5040000" cy="5397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Supporting Commands Like "Disable User John"</a:t>
            </a:r>
            <a:endParaRPr lang="en-US" sz="1100"/>
          </a:p>
        </p:txBody>
      </p:sp>
      <p:sp>
        <p:nvSpPr>
          <p:cNvPr name="Freeform 6" id="6"/>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7" id="7"/>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Quick Actions and Interactive User Experience</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Freeform 2" id="2"/>
          <p:cNvSpPr/>
          <p:nvPr/>
        </p:nvSpPr>
        <p:spPr>
          <a:xfrm>
            <a:off x="0" y="0"/>
            <a:ext cx="12192000" cy="2951058"/>
          </a:xfrm>
          <a:custGeom>
            <a:avLst/>
            <a:gdLst/>
            <a:ahLst/>
            <a:cxnLst/>
            <a:rect r="r" b="b" t="t" l="l"/>
            <a:pathLst>
              <a:path w="12192000" h="2663748" stroke="true" fill="norm" extrusionOk="true">
                <a:moveTo>
                  <a:pt x="0" y="0"/>
                </a:moveTo>
                <a:lnTo>
                  <a:pt x="12192000" y="0"/>
                </a:lnTo>
                <a:lnTo>
                  <a:pt x="12192000" y="2663748"/>
                </a:lnTo>
                <a:lnTo>
                  <a:pt x="0" y="2663748"/>
                </a:lnTo>
                <a:close/>
              </a:path>
            </a:pathLst>
          </a:custGeom>
          <a:gradFill>
            <a:gsLst>
              <a:gs pos="0">
                <a:srgbClr val="FEFFFF"/>
              </a:gs>
              <a:gs pos="100000">
                <a:srgbClr val="EAF4F7"/>
              </a:gs>
            </a:gsLst>
            <a:lin ang="1320000"/>
          </a:gradFill>
          <a:ln>
            <a:noFill/>
            <a:prstDash val="solid"/>
          </a:ln>
          <a:effectLst/>
        </p:spPr>
        <p:txBody>
          <a:bodyPr vert="horz" anchor="ctr" wrap="square" tIns="45720" lIns="91440" bIns="45720" rIns="91440">
            <a:noAutofit/>
          </a:bodyPr>
          <a:p>
            <a:pPr algn="ctr" marL="0"/>
          </a:p>
        </p:txBody>
      </p:sp>
      <p:sp>
        <p:nvSpPr>
          <p:cNvPr name="AutoShape 3" id="3"/>
          <p:cNvSpPr/>
          <p:nvPr/>
        </p:nvSpPr>
        <p:spPr>
          <a:xfrm>
            <a:off x="6100445" y="1935480"/>
            <a:ext cx="5368290" cy="4079875"/>
          </a:xfrm>
          <a:prstGeom prst="rect">
            <a:avLst/>
          </a:prstGeom>
          <a:solidFill>
            <a:srgbClr val="FFFFFF"/>
          </a:solidFill>
          <a:ln>
            <a:noFill/>
            <a:prstDash val="solid"/>
          </a:ln>
          <a:effectLst>
            <a:outerShdw algn="t" blurRad="177800" dir="12000000" dist="88900" rotWithShape="false">
              <a:schemeClr val="accent1">
                <a:alpha val="8000"/>
                <a:lumMod val="75000"/>
              </a:schemeClr>
            </a:outerShdw>
          </a:effectLst>
        </p:spPr>
        <p:txBody>
          <a:bodyPr vert="horz" anchor="ctr" tIns="45720" lIns="91440" bIns="45720" rIns="91440"/>
          <a:p>
            <a:pPr algn="ctr" marL="0"/>
          </a:p>
        </p:txBody>
      </p:sp>
      <p:pic>
        <p:nvPicPr>
          <p:cNvPr name="image70.jpeg" id="4"/>
          <p:cNvPicPr>
            <a:picLocks noChangeAspect="true"/>
          </p:cNvPicPr>
          <p:nvPr/>
        </p:nvPicPr>
        <p:blipFill>
          <a:blip r:embed="rId2"/>
          <a:srcRect l="4818" r="4818"/>
          <a:stretch>
            <a:fillRect t="0" l="0" b="0" r="0"/>
          </a:stretch>
        </p:blipFill>
        <p:spPr>
          <a:xfrm>
            <a:off x="6320155" y="2153285"/>
            <a:ext cx="4929505" cy="3644265"/>
          </a:xfrm>
          <a:prstGeom prst="rect">
            <a:avLst/>
          </a:prstGeom>
        </p:spPr>
      </p:pic>
      <p:grpSp>
        <p:nvGrpSpPr>
          <p:cNvPr name="Group 5" id="5"/>
          <p:cNvGrpSpPr/>
          <p:nvPr/>
        </p:nvGrpSpPr>
        <p:grpSpPr>
          <a:xfrm>
            <a:off x="822325" y="2383473"/>
            <a:ext cx="5039995" cy="3413760"/>
            <a:chOff x="1805" y="3432"/>
            <a:chExt cx="7937" cy="5376"/>
          </a:xfrm>
        </p:grpSpPr>
        <p:sp>
          <p:nvSpPr>
            <p:cNvPr name="TextBox 6" id="6"/>
            <p:cNvSpPr txBox="true"/>
            <p:nvPr/>
          </p:nvSpPr>
          <p:spPr>
            <a:xfrm>
              <a:off x="1805" y="4282"/>
              <a:ext cx="7937" cy="4526"/>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Future enhancements include AI-powered deep linking, allowing users to navigate directly to specific modules in edit mode based on commands. Context injection will enable commands that pre-load specific settings or states in the application. These innovations will keep CADM competitive and responsive to user needs.</a:t>
              </a:r>
              <a:endParaRPr lang="en-US" sz="1100"/>
            </a:p>
          </p:txBody>
        </p:sp>
        <p:sp>
          <p:nvSpPr>
            <p:cNvPr name="TextBox 7" id="7"/>
            <p:cNvSpPr txBox="true"/>
            <p:nvPr/>
          </p:nvSpPr>
          <p:spPr>
            <a:xfrm>
              <a:off x="1805" y="3432"/>
              <a:ext cx="7937"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Enabling Direct Navigation and Pre-Loaded Settings</a:t>
              </a:r>
              <a:endParaRPr lang="en-US" sz="1100"/>
            </a:p>
          </p:txBody>
        </p:sp>
      </p:grpSp>
      <p:sp>
        <p:nvSpPr>
          <p:cNvPr name="Freeform 8" id="8"/>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9" id="9"/>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Future Directions: AI-Powered Deep Linking and Context Injection</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PART-07</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Conceptual Architecture of NLN System</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AutoShape 2" id="2"/>
          <p:cNvSpPr/>
          <p:nvPr/>
        </p:nvSpPr>
        <p:spPr>
          <a:xfrm>
            <a:off x="0" y="2244437"/>
            <a:ext cx="8546995" cy="3514016"/>
          </a:xfrm>
          <a:prstGeom prst="rect">
            <a:avLst/>
          </a:prstGeom>
          <a:gradFill>
            <a:gsLst>
              <a:gs pos="0">
                <a:schemeClr val="accent1">
                  <a:lumMod val="90000"/>
                  <a:lumOff val="10000"/>
                </a:schemeClr>
              </a:gs>
              <a:gs pos="0">
                <a:srgbClr val="FFFFFF"/>
              </a:gs>
              <a:gs pos="100000">
                <a:srgbClr val="EDF6F8"/>
              </a:gs>
            </a:gsLst>
            <a:lin ang="600000"/>
          </a:gradFill>
          <a:ln>
            <a:noFill/>
          </a:ln>
          <a:effectLst/>
        </p:spPr>
        <p:txBody>
          <a:bodyPr vert="horz" anchor="ctr" tIns="45720" lIns="91440" bIns="45720" rIns="91440"/>
          <a:p>
            <a:pPr algn="ctr" marL="0"/>
          </a:p>
        </p:txBody>
      </p:sp>
      <p:pic>
        <p:nvPicPr>
          <p:cNvPr name="image72.jpeg" id="3"/>
          <p:cNvPicPr>
            <a:picLocks noChangeAspect="true"/>
          </p:cNvPicPr>
          <p:nvPr/>
        </p:nvPicPr>
        <p:blipFill>
          <a:blip r:embed="rId2"/>
          <a:srcRect l="25558" r="25558"/>
          <a:stretch>
            <a:fillRect t="0" l="0" b="0" r="0"/>
          </a:stretch>
        </p:blipFill>
        <p:spPr>
          <a:xfrm>
            <a:off x="7738393" y="1233489"/>
            <a:ext cx="3614383" cy="4932362"/>
          </a:xfrm>
          <a:prstGeom prst="rect">
            <a:avLst/>
          </a:prstGeom>
          <a:ln w="9525" cap="flat" cmpd="sng">
            <a:solidFill>
              <a:schemeClr val="dk1">
                <a:alpha val="50000"/>
                <a:lumMod val="40000"/>
                <a:lumOff val="60000"/>
              </a:schemeClr>
            </a:solidFill>
            <a:prstDash val="solid"/>
          </a:ln>
        </p:spPr>
      </p:pic>
      <p:grpSp>
        <p:nvGrpSpPr>
          <p:cNvPr name="Group 4" id="4"/>
          <p:cNvGrpSpPr/>
          <p:nvPr/>
        </p:nvGrpSpPr>
        <p:grpSpPr>
          <a:xfrm>
            <a:off x="1033727" y="2815265"/>
            <a:ext cx="6479540" cy="2372360"/>
            <a:chOff x="1230" y="4433"/>
            <a:chExt cx="10204" cy="3736"/>
          </a:xfrm>
        </p:grpSpPr>
        <p:sp>
          <p:nvSpPr>
            <p:cNvPr name="TextBox 5" id="5"/>
            <p:cNvSpPr txBox="true"/>
            <p:nvPr/>
          </p:nvSpPr>
          <p:spPr>
            <a:xfrm>
              <a:off x="1230" y="5283"/>
              <a:ext cx="10205" cy="2887"/>
            </a:xfrm>
            <a:prstGeom prst="rect">
              <a:avLst/>
            </a:prstGeom>
          </p:spPr>
          <p:txBody>
            <a:bodyPr anchor="t" rtlCol="false" vert="horz" wrap="square" tIns="46990" lIns="90170" bIns="46990" rIns="90170">
              <a:normAutofit/>
            </a:bodyPr>
            <a:lstStyle/>
            <a:p>
              <a:pPr algn="just" fontAlgn="auto" indent="0" marL="0">
                <a:lnSpc>
                  <a:spcPct val="135000"/>
                </a:lnSpc>
                <a:defRPr/>
              </a:pPr>
              <a:r>
                <a:rPr lang="en-US" b="false" i="false" sz="1600" baseline="0" u="none">
                  <a:solidFill>
                    <a:srgbClr val="262626"/>
                  </a:solidFill>
                  <a:latin typeface="思源黑体 Normal"/>
                  <a:ea typeface="思源黑体 Normal"/>
                </a:rPr>
                <a:t>The conceptual architecture includes a frontend with a search bar, a navigation controller managing requests, an AI intent service processing queries, an intent mapping table linking intents to actions, a route resolver directing requests to controllers, and an Oracle database storing data. This framework highlights how NLN enhances the existing system without a complete overhaul.</a:t>
              </a:r>
              <a:endParaRPr lang="en-US" sz="1100"/>
            </a:p>
          </p:txBody>
        </p:sp>
        <p:sp>
          <p:nvSpPr>
            <p:cNvPr name="TextBox 6" id="6"/>
            <p:cNvSpPr txBox="true"/>
            <p:nvPr/>
          </p:nvSpPr>
          <p:spPr>
            <a:xfrm>
              <a:off x="1230" y="4433"/>
              <a:ext cx="10205"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Key Components and Their Interactions</a:t>
              </a:r>
              <a:endParaRPr lang="en-US" sz="1100"/>
            </a:p>
          </p:txBody>
        </p:sp>
      </p:grpSp>
      <p:sp>
        <p:nvSpPr>
          <p:cNvPr name="Freeform 7" id="7"/>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8" id="8"/>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Visualizing the NLN Integration Framework</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PART-08</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Business Value and Management Communication</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pic>
        <p:nvPicPr>
          <p:cNvPr name="image82.jpeg" id="2"/>
          <p:cNvPicPr>
            <a:picLocks noChangeAspect="true"/>
          </p:cNvPicPr>
          <p:nvPr/>
        </p:nvPicPr>
        <p:blipFill>
          <a:blip r:embed="rId2"/>
          <a:srcRect l="30827" r="30827"/>
          <a:stretch>
            <a:fillRect t="0" l="0" b="0" r="0"/>
          </a:stretch>
        </p:blipFill>
        <p:spPr>
          <a:xfrm>
            <a:off x="1432511" y="1553595"/>
            <a:ext cx="3084186" cy="4519043"/>
          </a:xfrm>
          <a:custGeom>
            <a:pathLst>
              <a:path w="5467" h="7035" stroke="true" fill="norm" extrusionOk="true">
                <a:moveTo>
                  <a:pt x="2734" y="0"/>
                </a:moveTo>
                <a:cubicBezTo>
                  <a:pt x="4243" y="0"/>
                  <a:pt x="5467" y="1224"/>
                  <a:pt x="5467" y="2734"/>
                </a:cubicBezTo>
                <a:lnTo>
                  <a:pt x="5467" y="7035"/>
                </a:lnTo>
                <a:lnTo>
                  <a:pt x="0" y="7035"/>
                </a:lnTo>
                <a:lnTo>
                  <a:pt x="0" y="2734"/>
                </a:lnTo>
                <a:cubicBezTo>
                  <a:pt x="0" y="1224"/>
                  <a:pt x="1224" y="0"/>
                  <a:pt x="2734" y="0"/>
                </a:cubicBezTo>
                <a:close/>
              </a:path>
            </a:pathLst>
          </a:custGeom>
        </p:spPr>
      </p:pic>
      <p:sp>
        <p:nvSpPr>
          <p:cNvPr name="AutoShape 3" id="3"/>
          <p:cNvSpPr/>
          <p:nvPr/>
        </p:nvSpPr>
        <p:spPr>
          <a:xfrm>
            <a:off x="1170072" y="3569816"/>
            <a:ext cx="520155" cy="2583135"/>
          </a:xfrm>
          <a:prstGeom prst="round2SameRect">
            <a:avLst>
              <a:gd name="adj1" fmla="val 50000"/>
              <a:gd name="adj2" fmla="val 0"/>
            </a:avLst>
          </a:prstGeom>
          <a:gradFill>
            <a:gsLst>
              <a:gs pos="0">
                <a:schemeClr val="accent1">
                  <a:alpha val="0"/>
                </a:schemeClr>
              </a:gs>
              <a:gs pos="100000">
                <a:schemeClr val="accent1"/>
              </a:gs>
            </a:gsLst>
            <a:lin ang="16200000"/>
          </a:gradFill>
          <a:ln>
            <a:noFill/>
          </a:ln>
        </p:spPr>
        <p:txBody>
          <a:bodyPr vert="horz" anchor="ctr" tIns="45720" lIns="91440" bIns="45720" rIns="91440"/>
          <a:p>
            <a:pPr algn="ctr" marL="0"/>
          </a:p>
        </p:txBody>
      </p:sp>
      <p:sp>
        <p:nvSpPr>
          <p:cNvPr name="TextBox 4" id="4"/>
          <p:cNvSpPr txBox="true"/>
          <p:nvPr/>
        </p:nvSpPr>
        <p:spPr>
          <a:xfrm>
            <a:off x="5553710" y="2604135"/>
            <a:ext cx="5039995" cy="2874010"/>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NLN delivers substantial business value: reduced training time for new users, enhanced speed and efficiency by bypassing complex menus, and a modernized user experience. These benefits translate to faster onboarding, higher productivity, and improved user satisfaction in banking operations.</a:t>
            </a:r>
            <a:endParaRPr lang="en-US" sz="1100"/>
          </a:p>
        </p:txBody>
      </p:sp>
      <p:sp>
        <p:nvSpPr>
          <p:cNvPr name="TextBox 5" id="5"/>
          <p:cNvSpPr txBox="true"/>
          <p:nvPr/>
        </p:nvSpPr>
        <p:spPr>
          <a:xfrm>
            <a:off x="5553710" y="2064385"/>
            <a:ext cx="5040000" cy="5397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Reduced Training Time and Enhanced Efficiency</a:t>
            </a:r>
            <a:endParaRPr lang="en-US" sz="1100"/>
          </a:p>
        </p:txBody>
      </p:sp>
      <p:sp>
        <p:nvSpPr>
          <p:cNvPr name="Freeform 6" id="6"/>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7" id="7"/>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Quantifiable Benefits of NLN Implementation</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grpSp>
        <p:nvGrpSpPr>
          <p:cNvPr name="Group 2" id="2"/>
          <p:cNvGrpSpPr/>
          <p:nvPr/>
        </p:nvGrpSpPr>
        <p:grpSpPr>
          <a:xfrm>
            <a:off x="6785610" y="1186180"/>
            <a:ext cx="4229735" cy="4746625"/>
            <a:chOff x="10686" y="1868"/>
            <a:chExt cx="6661" cy="7475"/>
          </a:xfrm>
        </p:grpSpPr>
        <p:sp>
          <p:nvSpPr>
            <p:cNvPr name="Freeform 3" id="3"/>
            <p:cNvSpPr/>
            <p:nvPr/>
          </p:nvSpPr>
          <p:spPr>
            <a:xfrm>
              <a:off x="10686" y="2682"/>
              <a:ext cx="6661" cy="6661"/>
            </a:xfrm>
            <a:custGeom>
              <a:avLst/>
              <a:gdLst/>
              <a:ahLst/>
              <a:cxnLst/>
              <a:rect r="r" b="b" t="t" l="l"/>
              <a:pathLst>
                <a:path w="3749402" h="3749402" stroke="true" fill="norm" extrusionOk="true">
                  <a:moveTo>
                    <a:pt x="0" y="0"/>
                  </a:moveTo>
                  <a:lnTo>
                    <a:pt x="3749402" y="0"/>
                  </a:lnTo>
                  <a:lnTo>
                    <a:pt x="3749402" y="3749402"/>
                  </a:lnTo>
                  <a:lnTo>
                    <a:pt x="3242443" y="3749402"/>
                  </a:lnTo>
                  <a:lnTo>
                    <a:pt x="3230680" y="3702351"/>
                  </a:lnTo>
                  <a:lnTo>
                    <a:pt x="2396290" y="3702351"/>
                  </a:lnTo>
                  <a:lnTo>
                    <a:pt x="2384527" y="3749402"/>
                  </a:lnTo>
                  <a:lnTo>
                    <a:pt x="2309755" y="3749402"/>
                  </a:lnTo>
                  <a:lnTo>
                    <a:pt x="2297992" y="3702351"/>
                  </a:lnTo>
                  <a:lnTo>
                    <a:pt x="1463602" y="3702351"/>
                  </a:lnTo>
                  <a:lnTo>
                    <a:pt x="1451839" y="3749402"/>
                  </a:lnTo>
                  <a:lnTo>
                    <a:pt x="1364875" y="3749402"/>
                  </a:lnTo>
                  <a:lnTo>
                    <a:pt x="1353112" y="3702351"/>
                  </a:lnTo>
                  <a:lnTo>
                    <a:pt x="518722" y="3702351"/>
                  </a:lnTo>
                  <a:lnTo>
                    <a:pt x="506959" y="3749402"/>
                  </a:lnTo>
                  <a:lnTo>
                    <a:pt x="0" y="3749402"/>
                  </a:lnTo>
                  <a:close/>
                </a:path>
              </a:pathLst>
            </a:custGeom>
            <a:gradFill>
              <a:gsLst>
                <a:gs pos="0">
                  <a:schemeClr val="accent1">
                    <a:alpha val="25000"/>
                  </a:schemeClr>
                </a:gs>
                <a:gs pos="52000">
                  <a:schemeClr val="accent1">
                    <a:alpha val="0"/>
                  </a:schemeClr>
                </a:gs>
                <a:gs pos="100000">
                  <a:schemeClr val="accent1">
                    <a:alpha val="25000"/>
                  </a:schemeClr>
                </a:gs>
              </a:gsLst>
              <a:lin ang="2700000"/>
            </a:gradFill>
            <a:ln w="6350">
              <a:solidFill>
                <a:schemeClr val="accent1">
                  <a:alpha val="40000"/>
                </a:schemeClr>
              </a:solidFill>
            </a:ln>
          </p:spPr>
          <p:txBody>
            <a:bodyPr vert="horz" anchor="ctr" wrap="square" tIns="45720" lIns="91440" bIns="45720" rIns="91440">
              <a:noAutofit/>
            </a:bodyPr>
            <a:p>
              <a:pPr algn="ctr" marL="0"/>
            </a:p>
          </p:txBody>
        </p:sp>
        <p:pic>
          <p:nvPicPr>
            <p:cNvPr name="image77.jpeg" id="4"/>
            <p:cNvPicPr>
              <a:picLocks noChangeAspect="true"/>
            </p:cNvPicPr>
            <p:nvPr/>
          </p:nvPicPr>
          <p:blipFill>
            <a:blip r:embed="rId2"/>
            <a:srcRect l="11412" r="11412"/>
            <a:stretch>
              <a:fillRect/>
            </a:stretch>
          </p:blipFill>
          <p:spPr>
            <a:xfrm>
              <a:off x="11018" y="3099"/>
              <a:ext cx="5998" cy="5827"/>
            </a:xfrm>
            <a:custGeom>
              <a:pathLst>
                <a:path w="5133" h="4987" stroke="true" fill="norm" extrusionOk="true">
                  <a:moveTo>
                    <a:pt x="0" y="0"/>
                  </a:moveTo>
                  <a:lnTo>
                    <a:pt x="5133" y="0"/>
                  </a:lnTo>
                  <a:lnTo>
                    <a:pt x="5133" y="4987"/>
                  </a:lnTo>
                  <a:lnTo>
                    <a:pt x="0" y="4987"/>
                  </a:lnTo>
                  <a:lnTo>
                    <a:pt x="0" y="0"/>
                  </a:lnTo>
                  <a:close/>
                </a:path>
              </a:pathLst>
            </a:custGeom>
            <a:solidFill>
              <a:schemeClr val="accent1"/>
            </a:solidFill>
            <a:ln>
              <a:gradFill>
                <a:gsLst>
                  <a:gs pos="0">
                    <a:schemeClr val="accent1">
                      <a:alpha val="0"/>
                    </a:schemeClr>
                  </a:gs>
                  <a:gs pos="100000">
                    <a:schemeClr val="accent1"/>
                  </a:gs>
                </a:gsLst>
                <a:lin ang="16200000"/>
              </a:gradFill>
            </a:ln>
          </p:spPr>
        </p:pic>
        <p:pic>
          <p:nvPicPr>
            <p:cNvPr name="image78.png" id="5"/>
            <p:cNvPicPr>
              <a:picLocks noChangeAspect="true"/>
            </p:cNvPicPr>
            <p:nvPr/>
          </p:nvPicPr>
          <p:blipFill>
            <a:blip r:embed="rId3">
              <a:duotone>
                <a:schemeClr val="accent1">
                  <a:satMod val="135000"/>
                  <a:shade val="45000"/>
                </a:schemeClr>
                <a:prstClr val="white"/>
              </a:duotone>
            </a:blip>
            <a:srcRect t="4167" b="9100"/>
            <a:stretch>
              <a:fillRect t="0" l="0" b="0" r="0"/>
            </a:stretch>
          </p:blipFill>
          <p:spPr>
            <a:xfrm>
              <a:off x="12018" y="1868"/>
              <a:ext cx="3768" cy="1545"/>
            </a:xfrm>
            <a:prstGeom prst="rect">
              <a:avLst/>
            </a:prstGeom>
          </p:spPr>
        </p:pic>
        <p:sp>
          <p:nvSpPr>
            <p:cNvPr name="Freeform 6" id="6"/>
            <p:cNvSpPr/>
            <p:nvPr/>
          </p:nvSpPr>
          <p:spPr>
            <a:xfrm>
              <a:off x="10694" y="2690"/>
              <a:ext cx="1352" cy="418"/>
            </a:xfrm>
            <a:custGeom>
              <a:avLst/>
              <a:gdLst/>
              <a:ahLst/>
              <a:cxnLst/>
              <a:rect r="r" b="b" t="t" l="l"/>
              <a:pathLst>
                <a:path w="1360968" h="457200" stroke="true" fill="norm" extrusionOk="true">
                  <a:moveTo>
                    <a:pt x="1360968" y="0"/>
                  </a:moveTo>
                  <a:lnTo>
                    <a:pt x="0" y="0"/>
                  </a:lnTo>
                  <a:lnTo>
                    <a:pt x="0" y="457200"/>
                  </a:lnTo>
                </a:path>
              </a:pathLst>
            </a:custGeom>
            <a:noFill/>
            <a:ln w="19050">
              <a:solidFill>
                <a:schemeClr val="accent1"/>
              </a:solidFill>
            </a:ln>
          </p:spPr>
          <p:txBody>
            <a:bodyPr vert="horz" anchor="ctr" tIns="45720" lIns="91440" bIns="45720" rIns="91440"/>
            <a:p>
              <a:pPr fontAlgn="auto" algn="ctr" indent="0" marR="0" marL="0">
                <a:lnSpc>
                  <a:spcPct val="100000"/>
                </a:lnSpc>
                <a:spcBef>
                  <a:spcPct val="0"/>
                </a:spcBef>
                <a:spcAft>
                  <a:spcPct val="0"/>
                </a:spcAft>
                <a:buNone/>
              </a:pPr>
            </a:p>
          </p:txBody>
        </p:sp>
        <p:sp>
          <p:nvSpPr>
            <p:cNvPr name="AutoShape 7" id="7"/>
            <p:cNvSpPr/>
            <p:nvPr/>
          </p:nvSpPr>
          <p:spPr>
            <a:xfrm flipH="true" rot="10800000">
              <a:off x="10694" y="2690"/>
              <a:ext cx="264" cy="165"/>
            </a:xfrm>
            <a:prstGeom prst="triangle">
              <a:avLst>
                <a:gd name="adj" fmla="val 0"/>
              </a:avLst>
            </a:prstGeom>
            <a:solidFill>
              <a:schemeClr val="accent1"/>
            </a:solidFill>
            <a:ln>
              <a:noFill/>
            </a:ln>
          </p:spPr>
          <p:txBody>
            <a:bodyPr vert="horz" anchor="ctr" tIns="45720" lIns="91440" bIns="45720" rIns="91440"/>
            <a:p>
              <a:pPr fontAlgn="auto" algn="ctr" indent="0" marR="0" marL="0">
                <a:lnSpc>
                  <a:spcPct val="100000"/>
                </a:lnSpc>
                <a:spcBef>
                  <a:spcPct val="0"/>
                </a:spcBef>
                <a:spcAft>
                  <a:spcPct val="0"/>
                </a:spcAft>
                <a:buNone/>
              </a:pPr>
            </a:p>
          </p:txBody>
        </p:sp>
        <p:cxnSp>
          <p:nvCxnSpPr>
            <p:cNvPr name="Connector 8" id="8"/>
            <p:cNvCxnSpPr/>
            <p:nvPr/>
          </p:nvCxnSpPr>
          <p:spPr>
            <a:xfrm>
              <a:off x="10725" y="2941"/>
              <a:ext cx="0" cy="124"/>
            </a:xfrm>
            <a:prstGeom prst="line">
              <a:avLst/>
            </a:prstGeom>
            <a:ln w="12700">
              <a:solidFill>
                <a:schemeClr val="accent1"/>
              </a:solidFill>
            </a:ln>
          </p:spPr>
        </p:cxnSp>
        <p:sp>
          <p:nvSpPr>
            <p:cNvPr name="Freeform 9" id="9"/>
            <p:cNvSpPr/>
            <p:nvPr/>
          </p:nvSpPr>
          <p:spPr>
            <a:xfrm>
              <a:off x="11260" y="2647"/>
              <a:ext cx="394" cy="40"/>
            </a:xfrm>
            <a:custGeom>
              <a:avLst/>
              <a:gdLst/>
              <a:ahLst/>
              <a:cxnLst/>
              <a:rect r="r" b="b" t="t" l="l"/>
              <a:pathLst>
                <a:path w="220641" h="40720" stroke="true" fill="norm" extrusionOk="true">
                  <a:moveTo>
                    <a:pt x="149306" y="0"/>
                  </a:moveTo>
                  <a:lnTo>
                    <a:pt x="220641" y="39541"/>
                  </a:lnTo>
                  <a:lnTo>
                    <a:pt x="0" y="40720"/>
                  </a:lnTo>
                  <a:lnTo>
                    <a:pt x="22194" y="680"/>
                  </a:lnTo>
                  <a:lnTo>
                    <a:pt x="149306" y="0"/>
                  </a:lnTo>
                  <a:close/>
                </a:path>
              </a:pathLst>
            </a:custGeom>
            <a:solidFill>
              <a:schemeClr val="accent1"/>
            </a:solidFill>
            <a:ln>
              <a:noFill/>
            </a:ln>
          </p:spPr>
          <p:txBody>
            <a:bodyPr vert="horz" rot="0" anchor="ctr" wrap="square" tIns="45720" lIns="91440" bIns="45720" rIns="91440">
              <a:noAutofit/>
            </a:bodyPr>
            <a:p>
              <a:pPr algn="ctr" marL="0"/>
            </a:p>
          </p:txBody>
        </p:sp>
        <p:sp>
          <p:nvSpPr>
            <p:cNvPr name="Freeform 10" id="10"/>
            <p:cNvSpPr/>
            <p:nvPr/>
          </p:nvSpPr>
          <p:spPr>
            <a:xfrm flipV="true">
              <a:off x="16863" y="8918"/>
              <a:ext cx="471" cy="409"/>
            </a:xfrm>
            <a:custGeom>
              <a:avLst/>
              <a:gdLst/>
              <a:ahLst/>
              <a:cxnLst/>
              <a:rect r="r" b="b" t="t" l="l"/>
              <a:pathLst>
                <a:path w="571" h="409" stroke="true" fill="norm" extrusionOk="true">
                  <a:moveTo>
                    <a:pt x="0" y="0"/>
                  </a:moveTo>
                  <a:lnTo>
                    <a:pt x="571" y="0"/>
                  </a:lnTo>
                  <a:lnTo>
                    <a:pt x="569" y="409"/>
                  </a:lnTo>
                </a:path>
              </a:pathLst>
            </a:custGeom>
            <a:noFill/>
            <a:ln w="22225">
              <a:solidFill>
                <a:schemeClr val="accent1"/>
              </a:solidFill>
            </a:ln>
          </p:spPr>
          <p:txBody>
            <a:bodyPr vert="horz" anchor="ctr" tIns="45720" lIns="91440" bIns="45720" rIns="91440"/>
            <a:p>
              <a:pPr algn="ctr" marL="0"/>
            </a:p>
          </p:txBody>
        </p:sp>
        <p:sp>
          <p:nvSpPr>
            <p:cNvPr name="Freeform 11" id="11"/>
            <p:cNvSpPr/>
            <p:nvPr/>
          </p:nvSpPr>
          <p:spPr>
            <a:xfrm flipH="true" rot="10800000">
              <a:off x="11018" y="9053"/>
              <a:ext cx="1430" cy="97"/>
            </a:xfrm>
            <a:custGeom>
              <a:avLst/>
              <a:gdLst/>
              <a:ahLst/>
              <a:cxnLst/>
              <a:rect r="r" b="b" t="t" l="l"/>
              <a:pathLst>
                <a:path w="1430" h="97" stroke="true" fill="norm" extrusionOk="true">
                  <a:moveTo>
                    <a:pt x="0" y="97"/>
                  </a:moveTo>
                  <a:lnTo>
                    <a:pt x="24" y="0"/>
                  </a:lnTo>
                  <a:lnTo>
                    <a:pt x="101" y="0"/>
                  </a:lnTo>
                  <a:lnTo>
                    <a:pt x="77" y="97"/>
                  </a:lnTo>
                  <a:lnTo>
                    <a:pt x="0" y="97"/>
                  </a:lnTo>
                  <a:close/>
                  <a:moveTo>
                    <a:pt x="133" y="97"/>
                  </a:moveTo>
                  <a:lnTo>
                    <a:pt x="157" y="0"/>
                  </a:lnTo>
                  <a:lnTo>
                    <a:pt x="234" y="0"/>
                  </a:lnTo>
                  <a:lnTo>
                    <a:pt x="210" y="97"/>
                  </a:lnTo>
                  <a:lnTo>
                    <a:pt x="133" y="97"/>
                  </a:lnTo>
                  <a:close/>
                  <a:moveTo>
                    <a:pt x="266" y="97"/>
                  </a:moveTo>
                  <a:lnTo>
                    <a:pt x="290" y="0"/>
                  </a:lnTo>
                  <a:lnTo>
                    <a:pt x="367" y="0"/>
                  </a:lnTo>
                  <a:lnTo>
                    <a:pt x="343" y="97"/>
                  </a:lnTo>
                  <a:lnTo>
                    <a:pt x="266" y="97"/>
                  </a:lnTo>
                  <a:close/>
                  <a:moveTo>
                    <a:pt x="399" y="97"/>
                  </a:moveTo>
                  <a:lnTo>
                    <a:pt x="423" y="0"/>
                  </a:lnTo>
                  <a:lnTo>
                    <a:pt x="500" y="0"/>
                  </a:lnTo>
                  <a:lnTo>
                    <a:pt x="476" y="97"/>
                  </a:lnTo>
                  <a:lnTo>
                    <a:pt x="399" y="97"/>
                  </a:lnTo>
                  <a:close/>
                  <a:moveTo>
                    <a:pt x="532" y="97"/>
                  </a:moveTo>
                  <a:lnTo>
                    <a:pt x="556" y="0"/>
                  </a:lnTo>
                  <a:lnTo>
                    <a:pt x="633" y="0"/>
                  </a:lnTo>
                  <a:lnTo>
                    <a:pt x="609" y="97"/>
                  </a:lnTo>
                  <a:lnTo>
                    <a:pt x="532" y="97"/>
                  </a:lnTo>
                  <a:close/>
                  <a:moveTo>
                    <a:pt x="664" y="97"/>
                  </a:moveTo>
                  <a:lnTo>
                    <a:pt x="688" y="0"/>
                  </a:lnTo>
                  <a:lnTo>
                    <a:pt x="765" y="0"/>
                  </a:lnTo>
                  <a:lnTo>
                    <a:pt x="741" y="97"/>
                  </a:lnTo>
                  <a:lnTo>
                    <a:pt x="664" y="97"/>
                  </a:lnTo>
                  <a:close/>
                  <a:moveTo>
                    <a:pt x="797" y="97"/>
                  </a:moveTo>
                  <a:lnTo>
                    <a:pt x="821" y="0"/>
                  </a:lnTo>
                  <a:lnTo>
                    <a:pt x="898" y="0"/>
                  </a:lnTo>
                  <a:lnTo>
                    <a:pt x="874" y="97"/>
                  </a:lnTo>
                  <a:lnTo>
                    <a:pt x="797" y="97"/>
                  </a:lnTo>
                  <a:close/>
                  <a:moveTo>
                    <a:pt x="930" y="97"/>
                  </a:moveTo>
                  <a:lnTo>
                    <a:pt x="954" y="0"/>
                  </a:lnTo>
                  <a:lnTo>
                    <a:pt x="1031" y="0"/>
                  </a:lnTo>
                  <a:lnTo>
                    <a:pt x="1007" y="97"/>
                  </a:lnTo>
                  <a:lnTo>
                    <a:pt x="930" y="97"/>
                  </a:lnTo>
                  <a:close/>
                  <a:moveTo>
                    <a:pt x="1063" y="97"/>
                  </a:moveTo>
                  <a:lnTo>
                    <a:pt x="1087" y="0"/>
                  </a:lnTo>
                  <a:lnTo>
                    <a:pt x="1164" y="0"/>
                  </a:lnTo>
                  <a:lnTo>
                    <a:pt x="1140" y="97"/>
                  </a:lnTo>
                  <a:lnTo>
                    <a:pt x="1063" y="97"/>
                  </a:lnTo>
                  <a:close/>
                  <a:moveTo>
                    <a:pt x="1196" y="97"/>
                  </a:moveTo>
                  <a:lnTo>
                    <a:pt x="1220" y="0"/>
                  </a:lnTo>
                  <a:lnTo>
                    <a:pt x="1297" y="0"/>
                  </a:lnTo>
                  <a:lnTo>
                    <a:pt x="1273" y="97"/>
                  </a:lnTo>
                  <a:lnTo>
                    <a:pt x="1196" y="97"/>
                  </a:lnTo>
                  <a:close/>
                  <a:moveTo>
                    <a:pt x="1329" y="97"/>
                  </a:moveTo>
                  <a:lnTo>
                    <a:pt x="1353" y="0"/>
                  </a:lnTo>
                  <a:lnTo>
                    <a:pt x="1430" y="0"/>
                  </a:lnTo>
                  <a:lnTo>
                    <a:pt x="1406" y="97"/>
                  </a:lnTo>
                  <a:lnTo>
                    <a:pt x="1329" y="97"/>
                  </a:lnTo>
                  <a:close/>
                </a:path>
              </a:pathLst>
            </a:custGeom>
            <a:gradFill rotWithShape="true" flip="none">
              <a:gsLst>
                <a:gs pos="0">
                  <a:schemeClr val="accent1"/>
                </a:gs>
                <a:gs pos="100000">
                  <a:schemeClr val="accent1">
                    <a:alpha val="0"/>
                  </a:schemeClr>
                </a:gs>
              </a:gsLst>
              <a:tileRect/>
            </a:gradFill>
            <a:ln>
              <a:noFill/>
            </a:ln>
            <a:effectLst>
              <a:outerShdw algn="ctr" blurRad="127000" rotWithShape="false">
                <a:schemeClr val="accent1">
                  <a:alpha val="40000"/>
                </a:schemeClr>
              </a:outerShdw>
            </a:effectLst>
          </p:spPr>
          <p:txBody>
            <a:bodyPr vert="horz" rot="0" anchor="ctr" wrap="square" tIns="45720" lIns="91440" bIns="45720" rIns="91440">
              <a:noAutofit/>
            </a:bodyPr>
            <a:p>
              <a:pPr algn="ctr" marL="0"/>
            </a:p>
          </p:txBody>
        </p:sp>
        <p:sp>
          <p:nvSpPr>
            <p:cNvPr name="Freeform 12" id="12"/>
            <p:cNvSpPr/>
            <p:nvPr/>
          </p:nvSpPr>
          <p:spPr>
            <a:xfrm flipV="true" rot="16200000">
              <a:off x="7982" y="6319"/>
              <a:ext cx="5726" cy="130"/>
            </a:xfrm>
            <a:custGeom>
              <a:avLst/>
              <a:gdLst/>
              <a:ahLst/>
              <a:cxnLst/>
              <a:rect r="r" b="b" t="t" l="l"/>
              <a:pathLst>
                <a:path w="4210493" h="233916" stroke="true" fill="norm" extrusionOk="true">
                  <a:moveTo>
                    <a:pt x="0" y="116958"/>
                  </a:moveTo>
                  <a:lnTo>
                    <a:pt x="744279" y="116958"/>
                  </a:lnTo>
                  <a:lnTo>
                    <a:pt x="1010093" y="0"/>
                  </a:lnTo>
                  <a:lnTo>
                    <a:pt x="1350335" y="0"/>
                  </a:lnTo>
                  <a:lnTo>
                    <a:pt x="2955851" y="0"/>
                  </a:lnTo>
                  <a:lnTo>
                    <a:pt x="3157870" y="233916"/>
                  </a:lnTo>
                  <a:lnTo>
                    <a:pt x="4210493" y="233916"/>
                  </a:lnTo>
                </a:path>
              </a:pathLst>
            </a:custGeom>
            <a:noFill/>
            <a:ln cap="rnd">
              <a:gradFill>
                <a:gsLst>
                  <a:gs pos="0">
                    <a:schemeClr val="accent1">
                      <a:alpha val="0"/>
                    </a:schemeClr>
                  </a:gs>
                  <a:gs pos="61000">
                    <a:schemeClr val="accent1">
                      <a:alpha val="59000"/>
                    </a:schemeClr>
                  </a:gs>
                  <a:gs pos="100000">
                    <a:srgbClr val="FFC955">
                      <a:alpha val="4000"/>
                    </a:srgbClr>
                  </a:gs>
                </a:gsLst>
                <a:lin ang="10800000"/>
                <a:tileRect/>
              </a:gradFill>
            </a:ln>
          </p:spPr>
          <p:txBody>
            <a:bodyPr vert="horz" anchor="ctr" tIns="45720" lIns="91440" bIns="45720" rIns="91440"/>
            <a:p>
              <a:pPr algn="ctr" marL="0"/>
            </a:p>
          </p:txBody>
        </p:sp>
        <p:sp>
          <p:nvSpPr>
            <p:cNvPr name="Freeform 13" id="13"/>
            <p:cNvSpPr/>
            <p:nvPr/>
          </p:nvSpPr>
          <p:spPr>
            <a:xfrm flipH="true" flipV="true" rot="5400000">
              <a:off x="14347" y="6319"/>
              <a:ext cx="5726" cy="130"/>
            </a:xfrm>
            <a:custGeom>
              <a:avLst/>
              <a:gdLst/>
              <a:ahLst/>
              <a:cxnLst/>
              <a:rect r="r" b="b" t="t" l="l"/>
              <a:pathLst>
                <a:path w="4210493" h="233916" stroke="true" fill="norm" extrusionOk="true">
                  <a:moveTo>
                    <a:pt x="0" y="116958"/>
                  </a:moveTo>
                  <a:lnTo>
                    <a:pt x="744279" y="116958"/>
                  </a:lnTo>
                  <a:lnTo>
                    <a:pt x="1010093" y="0"/>
                  </a:lnTo>
                  <a:lnTo>
                    <a:pt x="1350335" y="0"/>
                  </a:lnTo>
                  <a:lnTo>
                    <a:pt x="2955851" y="0"/>
                  </a:lnTo>
                  <a:lnTo>
                    <a:pt x="3157870" y="233916"/>
                  </a:lnTo>
                  <a:lnTo>
                    <a:pt x="4210493" y="233916"/>
                  </a:lnTo>
                </a:path>
              </a:pathLst>
            </a:custGeom>
            <a:noFill/>
            <a:ln cap="rnd">
              <a:gradFill>
                <a:gsLst>
                  <a:gs pos="0">
                    <a:schemeClr val="accent1">
                      <a:alpha val="0"/>
                    </a:schemeClr>
                  </a:gs>
                  <a:gs pos="61000">
                    <a:schemeClr val="accent1">
                      <a:alpha val="59000"/>
                    </a:schemeClr>
                  </a:gs>
                  <a:gs pos="100000">
                    <a:srgbClr val="FFC955">
                      <a:alpha val="4000"/>
                    </a:srgbClr>
                  </a:gs>
                </a:gsLst>
                <a:lin ang="10800000"/>
                <a:tileRect/>
              </a:gradFill>
            </a:ln>
          </p:spPr>
          <p:txBody>
            <a:bodyPr vert="horz" anchor="ctr" tIns="45720" lIns="91440" bIns="45720" rIns="91440"/>
            <a:p>
              <a:pPr algn="ctr" marL="0"/>
            </a:p>
          </p:txBody>
        </p:sp>
      </p:grpSp>
      <p:grpSp>
        <p:nvGrpSpPr>
          <p:cNvPr name="Group 14" id="14"/>
          <p:cNvGrpSpPr/>
          <p:nvPr/>
        </p:nvGrpSpPr>
        <p:grpSpPr>
          <a:xfrm>
            <a:off x="1146175" y="2128520"/>
            <a:ext cx="5039360" cy="3413760"/>
            <a:chOff x="1805" y="3251"/>
            <a:chExt cx="7936" cy="5376"/>
          </a:xfrm>
        </p:grpSpPr>
        <p:sp>
          <p:nvSpPr>
            <p:cNvPr name="TextBox 15" id="15"/>
            <p:cNvSpPr txBox="true"/>
            <p:nvPr/>
          </p:nvSpPr>
          <p:spPr>
            <a:xfrm>
              <a:off x="1805" y="4101"/>
              <a:ext cx="7937" cy="4526"/>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When discussing NLN with management, a suitable pitch is: "By integrating a natural language navigation layer above our current Spring Boot controllers, we can significantly reduce navigation complexity while improving onboarding efficiency. This solution enhances user experience without altering existing business logic, making it a safe and beneficial upgrade."</a:t>
              </a:r>
              <a:endParaRPr lang="en-US" sz="1100"/>
            </a:p>
          </p:txBody>
        </p:sp>
        <p:sp>
          <p:nvSpPr>
            <p:cNvPr name="TextBox 16" id="16"/>
            <p:cNvSpPr txBox="true"/>
            <p:nvPr/>
          </p:nvSpPr>
          <p:spPr>
            <a:xfrm>
              <a:off x="1805" y="3251"/>
              <a:ext cx="7937"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A Compelling Pitch for NLN Integration</a:t>
              </a:r>
              <a:endParaRPr lang="en-US" sz="1100"/>
            </a:p>
          </p:txBody>
        </p:sp>
      </p:grpSp>
      <p:sp>
        <p:nvSpPr>
          <p:cNvPr name="Freeform 17" id="17"/>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18" id="18"/>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Articulating Value to Management</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AutoShape 2" id="2"/>
          <p:cNvSpPr/>
          <p:nvPr/>
        </p:nvSpPr>
        <p:spPr>
          <a:xfrm>
            <a:off x="332740" y="1235710"/>
            <a:ext cx="2792095" cy="686435"/>
          </a:xfrm>
          <a:prstGeom prst="roundRect">
            <a:avLst/>
          </a:prstGeom>
          <a:solidFill>
            <a:srgbClr val="007C98"/>
          </a:solidFill>
          <a:ln>
            <a:noFill/>
          </a:ln>
        </p:spPr>
        <p:txBody>
          <a:bodyPr vert="horz" anchor="ctr" tIns="45720" lIns="91440" bIns="45720" rIns="91440"/>
          <a:p>
            <a:pPr algn="ctr" marL="0"/>
          </a:p>
        </p:txBody>
      </p:sp>
      <p:sp>
        <p:nvSpPr>
          <p:cNvPr name="TextBox 3" id="3"/>
          <p:cNvSpPr txBox="true"/>
          <p:nvPr/>
        </p:nvSpPr>
        <p:spPr>
          <a:xfrm>
            <a:off x="332740" y="1254125"/>
            <a:ext cx="2791460" cy="650240"/>
          </a:xfrm>
          <a:prstGeom prst="roundRect">
            <a:avLst/>
          </a:prstGeom>
          <a:noFill/>
        </p:spPr>
        <p:txBody>
          <a:bodyPr anchor="ctr" rtlCol="false" vert="horz" wrap="square" tIns="45720" lIns="91440" bIns="45720" rIns="91440">
            <a:noAutofit/>
          </a:bodyPr>
          <a:lstStyle/>
          <a:p>
            <a:pPr algn="dist" marL="0">
              <a:defRPr/>
            </a:pPr>
            <a:r>
              <a:rPr lang="en-US" b="true" i="false" sz="4000" baseline="0" u="none">
                <a:solidFill>
                  <a:srgbClr val="FFFFFF"/>
                </a:solidFill>
                <a:latin typeface="思源黑体 Medium"/>
                <a:ea typeface="思源黑体 Medium"/>
              </a:rPr>
              <a:t>PART-09</a:t>
            </a:r>
            <a:endParaRPr lang="en-US" sz="1100"/>
          </a:p>
        </p:txBody>
      </p:sp>
      <p:sp>
        <p:nvSpPr>
          <p:cNvPr name="TextBox 4" id="4"/>
          <p:cNvSpPr txBox="true"/>
          <p:nvPr/>
        </p:nvSpPr>
        <p:spPr>
          <a:xfrm>
            <a:off x="227965" y="2209800"/>
            <a:ext cx="7232015" cy="2190115"/>
          </a:xfrm>
          <a:prstGeom prst="rect">
            <a:avLst/>
          </a:prstGeom>
          <a:noFill/>
        </p:spPr>
        <p:txBody>
          <a:bodyPr anchor="ctr" rtlCol="false" vert="horz" wrap="square" tIns="45720" lIns="91440" bIns="45720" rIns="91440">
            <a:noAutofit/>
            <a:scene3d>
              <a:camera prst="orthographicFront" zoom="100%"/>
              <a:lightRig rig="threePt" dir="t"/>
            </a:scene3d>
          </a:bodyPr>
          <a:lstStyle/>
          <a:p>
            <a:pPr algn="l" fontAlgn="auto" indent="0" marL="0">
              <a:lnSpc>
                <a:spcPct val="110000"/>
              </a:lnSpc>
              <a:spcBef>
                <a:spcPct val="0"/>
              </a:spcBef>
              <a:spcAft>
                <a:spcPct val="0"/>
              </a:spcAft>
              <a:defRPr/>
            </a:pPr>
            <a:r>
              <a:rPr lang="en-US" b="true" i="false" sz="4800" spc="400" baseline="0" u="none">
                <a:solidFill>
                  <a:schemeClr val="tx2"/>
                </a:solidFill>
                <a:effectLst>
                  <a:outerShdw algn="tl" blurRad="38100" dir="2700000" dist="19050" rotWithShape="false">
                    <a:schemeClr val="dk1">
                      <a:alpha val="40000"/>
                    </a:schemeClr>
                  </a:outerShdw>
                </a:effectLst>
                <a:latin typeface="思源黑体 Medium"/>
                <a:ea typeface="思源黑体 Medium"/>
              </a:rPr>
              <a:t>Conclusion and Future Outlook</a:t>
            </a:r>
            <a:endParaRPr lang="en-US" sz="1100"/>
          </a:p>
        </p:txBody>
      </p:sp>
      <p:grpSp>
        <p:nvGrpSpPr>
          <p:cNvPr name="Group 5" id="5"/>
          <p:cNvGrpSpPr/>
          <p:nvPr/>
        </p:nvGrpSpPr>
        <p:grpSpPr>
          <a:xfrm>
            <a:off x="337820" y="4687570"/>
            <a:ext cx="5876925" cy="76835"/>
            <a:chOff x="4654" y="5952"/>
            <a:chExt cx="8758" cy="119"/>
          </a:xfrm>
        </p:grpSpPr>
        <p:cxnSp>
          <p:nvCxnSpPr>
            <p:cNvPr name="Connector 6" id="6"/>
            <p:cNvCxnSpPr/>
            <p:nvPr/>
          </p:nvCxnSpPr>
          <p:spPr>
            <a:xfrm>
              <a:off x="4708" y="6009"/>
              <a:ext cx="8704" cy="0"/>
            </a:xfrm>
            <a:prstGeom prst="line">
              <a:avLst/>
            </a:prstGeom>
            <a:ln w="9525">
              <a:solidFill>
                <a:srgbClr val="007C98"/>
              </a:solidFill>
            </a:ln>
          </p:spPr>
        </p:cxnSp>
        <p:sp>
          <p:nvSpPr>
            <p:cNvPr name="AutoShape 7" id="7"/>
            <p:cNvSpPr/>
            <p:nvPr/>
          </p:nvSpPr>
          <p:spPr>
            <a:xfrm>
              <a:off x="4654" y="5952"/>
              <a:ext cx="2673" cy="119"/>
            </a:xfrm>
            <a:prstGeom prst="roundRect">
              <a:avLst>
                <a:gd name="adj" fmla="val 50000"/>
              </a:avLst>
            </a:prstGeom>
            <a:solidFill>
              <a:srgbClr val="007C98"/>
            </a:solidFill>
            <a:ln>
              <a:noFill/>
            </a:ln>
          </p:spPr>
          <p:txBody>
            <a:bodyPr vert="horz" anchor="ctr" tIns="45720" lIns="91440" bIns="45720" rIns="91440"/>
            <a:p>
              <a:pPr algn="ctr" marL="0"/>
            </a:p>
          </p:txBody>
        </p:sp>
      </p:grpSp>
    </p:spTree>
  </p:cSld>
  <p:clrMapOvr>
    <a:masterClrMapping/>
  </p:clrMapOvr>
  <p:transition spd="fast" advClick="false"/>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D8E9ED">
            <a:alpha val="34000"/>
          </a:srgbClr>
        </a:solidFill>
      </p:bgPr>
    </p:bg>
    <p:spTree>
      <p:nvGrpSpPr>
        <p:cNvPr id="1" name=""/>
        <p:cNvGrpSpPr/>
        <p:nvPr/>
      </p:nvGrpSpPr>
      <p:grpSpPr>
        <a:xfrm>
          <a:off x="0" y="0"/>
          <a:ext cx="0" cy="0"/>
          <a:chOff x="0" y="0"/>
          <a:chExt cx="0" cy="0"/>
        </a:xfrm>
      </p:grpSpPr>
      <p:sp>
        <p:nvSpPr>
          <p:cNvPr name="Freeform 2" id="2"/>
          <p:cNvSpPr/>
          <p:nvPr/>
        </p:nvSpPr>
        <p:spPr>
          <a:xfrm rot="7697511">
            <a:off x="7518101" y="3076646"/>
            <a:ext cx="4547187" cy="2296043"/>
          </a:xfrm>
          <a:custGeom>
            <a:avLst/>
            <a:gdLst/>
            <a:ahLst/>
            <a:cxnLst/>
            <a:rect r="r" b="b" t="t" l="l"/>
            <a:pathLst>
              <a:path w="2249936" h="1136076" stroke="true" fill="norm" extrusionOk="true">
                <a:moveTo>
                  <a:pt x="58" y="1136076"/>
                </a:moveTo>
                <a:cubicBezTo>
                  <a:pt x="-6169" y="514639"/>
                  <a:pt x="492725" y="6031"/>
                  <a:pt x="1113913" y="53"/>
                </a:cubicBezTo>
                <a:cubicBezTo>
                  <a:pt x="1735102" y="-5925"/>
                  <a:pt x="2243959" y="492720"/>
                  <a:pt x="2249937" y="1113909"/>
                </a:cubicBezTo>
              </a:path>
            </a:pathLst>
          </a:custGeom>
          <a:noFill/>
          <a:ln w="9525" cap="flat">
            <a:solidFill>
              <a:schemeClr val="accent1"/>
            </a:solidFill>
            <a:prstDash val="solid"/>
            <a:miter lim="800000"/>
          </a:ln>
        </p:spPr>
        <p:txBody>
          <a:bodyPr vert="horz" anchor="ctr" tIns="45720" lIns="91440" bIns="45720" rIns="91440"/>
          <a:p>
            <a:pPr algn="l" marL="0"/>
          </a:p>
        </p:txBody>
      </p:sp>
      <p:sp>
        <p:nvSpPr>
          <p:cNvPr name="AutoShape 3" id="3"/>
          <p:cNvSpPr/>
          <p:nvPr/>
        </p:nvSpPr>
        <p:spPr>
          <a:xfrm rot="20405484">
            <a:off x="7361315" y="5194202"/>
            <a:ext cx="240930" cy="240930"/>
          </a:xfrm>
          <a:prstGeom prst="ellipse">
            <a:avLst/>
          </a:prstGeom>
          <a:solidFill>
            <a:srgbClr val="007C98"/>
          </a:solidFill>
          <a:ln>
            <a:noFill/>
          </a:ln>
        </p:spPr>
        <p:txBody>
          <a:bodyPr vert="horz" anchor="ctr" tIns="45720" lIns="91440" bIns="45720" rIns="91440"/>
          <a:p>
            <a:pPr algn="ctr" marL="0"/>
          </a:p>
        </p:txBody>
      </p:sp>
      <p:sp>
        <p:nvSpPr>
          <p:cNvPr name="AutoShape 4" id="4"/>
          <p:cNvSpPr/>
          <p:nvPr/>
        </p:nvSpPr>
        <p:spPr>
          <a:xfrm rot="20405484">
            <a:off x="10230193" y="1655872"/>
            <a:ext cx="167489" cy="167489"/>
          </a:xfrm>
          <a:prstGeom prst="ellipse">
            <a:avLst/>
          </a:prstGeom>
          <a:solidFill>
            <a:srgbClr val="007C98"/>
          </a:solidFill>
          <a:ln>
            <a:noFill/>
          </a:ln>
        </p:spPr>
        <p:txBody>
          <a:bodyPr vert="horz" anchor="ctr" tIns="45720" lIns="91440" bIns="45720" rIns="91440"/>
          <a:p>
            <a:pPr algn="ctr" marL="0"/>
          </a:p>
        </p:txBody>
      </p:sp>
      <p:pic>
        <p:nvPicPr>
          <p:cNvPr name="image71.jpeg" id="5"/>
          <p:cNvPicPr>
            <a:picLocks noChangeAspect="true"/>
          </p:cNvPicPr>
          <p:nvPr/>
        </p:nvPicPr>
        <p:blipFill rotWithShape="true">
          <a:blip r:embed="rId2"/>
          <a:srcRect l="16642" r="16642"/>
          <a:stretch>
            <a:fillRect t="0" l="0" b="0" r="0"/>
          </a:stretch>
        </p:blipFill>
        <p:spPr>
          <a:xfrm>
            <a:off x="7129539" y="1728813"/>
            <a:ext cx="3624483" cy="3624483"/>
          </a:xfrm>
          <a:custGeom>
            <a:pathLst>
              <a:path w="5263" h="5263" stroke="true" fill="norm" extrusionOk="true">
                <a:moveTo>
                  <a:pt x="2631" y="0"/>
                </a:moveTo>
                <a:cubicBezTo>
                  <a:pt x="4085" y="0"/>
                  <a:pt x="5263" y="1178"/>
                  <a:pt x="5263" y="2631"/>
                </a:cubicBezTo>
                <a:cubicBezTo>
                  <a:pt x="5263" y="4085"/>
                  <a:pt x="4085" y="5263"/>
                  <a:pt x="2631" y="5263"/>
                </a:cubicBezTo>
                <a:cubicBezTo>
                  <a:pt x="1178" y="5263"/>
                  <a:pt x="0" y="4085"/>
                  <a:pt x="0" y="2631"/>
                </a:cubicBezTo>
                <a:cubicBezTo>
                  <a:pt x="0" y="1178"/>
                  <a:pt x="1178" y="0"/>
                  <a:pt x="2631" y="0"/>
                </a:cubicBezTo>
                <a:close/>
              </a:path>
            </a:pathLst>
          </a:custGeom>
          <a:ln w="6350">
            <a:solidFill>
              <a:schemeClr val="tx1">
                <a:alpha val="20000"/>
                <a:lumMod val="40000"/>
                <a:lumOff val="60000"/>
              </a:schemeClr>
            </a:solidFill>
          </a:ln>
        </p:spPr>
      </p:pic>
      <p:sp>
        <p:nvSpPr>
          <p:cNvPr name="AutoShape 6" id="6"/>
          <p:cNvSpPr/>
          <p:nvPr/>
        </p:nvSpPr>
        <p:spPr>
          <a:xfrm>
            <a:off x="10771929" y="5468954"/>
            <a:ext cx="167489" cy="167489"/>
          </a:xfrm>
          <a:prstGeom prst="ellipse">
            <a:avLst/>
          </a:prstGeom>
          <a:solidFill>
            <a:srgbClr val="007C98"/>
          </a:solidFill>
          <a:ln>
            <a:noFill/>
          </a:ln>
        </p:spPr>
        <p:txBody>
          <a:bodyPr vert="horz" anchor="ctr" tIns="45720" lIns="91440" bIns="45720" rIns="91440"/>
          <a:p>
            <a:pPr algn="ctr" marL="0"/>
          </a:p>
        </p:txBody>
      </p:sp>
      <p:grpSp>
        <p:nvGrpSpPr>
          <p:cNvPr name="Group 7" id="7"/>
          <p:cNvGrpSpPr/>
          <p:nvPr/>
        </p:nvGrpSpPr>
        <p:grpSpPr>
          <a:xfrm>
            <a:off x="828040" y="1834175"/>
            <a:ext cx="5039360" cy="3413760"/>
            <a:chOff x="1304" y="2888"/>
            <a:chExt cx="7936" cy="5376"/>
          </a:xfrm>
        </p:grpSpPr>
        <p:sp>
          <p:nvSpPr>
            <p:cNvPr name="TextBox 8" id="8"/>
            <p:cNvSpPr txBox="true"/>
            <p:nvPr/>
          </p:nvSpPr>
          <p:spPr>
            <a:xfrm>
              <a:off x="1304" y="3738"/>
              <a:ext cx="7937" cy="4526"/>
            </a:xfrm>
            <a:prstGeom prst="rect">
              <a:avLst/>
            </a:prstGeom>
          </p:spPr>
          <p:txBody>
            <a:bodyPr anchor="t" rtlCol="false" vert="horz" wrap="square" tIns="46990" lIns="90170" bIns="46990" rIns="90170">
              <a:normAutofit/>
            </a:bodyPr>
            <a:lstStyle/>
            <a:p>
              <a:pPr algn="just" fontAlgn="auto" indent="0" marL="0">
                <a:lnSpc>
                  <a:spcPct val="150000"/>
                </a:lnSpc>
                <a:defRPr/>
              </a:pPr>
              <a:r>
                <a:rPr lang="en-US" b="false" i="false" sz="1600" baseline="0" u="none">
                  <a:solidFill>
                    <a:srgbClr val="262626"/>
                  </a:solidFill>
                  <a:latin typeface="思源黑体 Normal"/>
                  <a:ea typeface="思源黑体 Normal"/>
                </a:rPr>
                <a:t>Natural Language Navigation represents a transformative step in CADM's evolution. By enabling natural language interaction, banking operations can streamline processes, enhance user experience, and uphold stringent security measures. Careful implementation and ongoing enhancements will solidify CADM's position as a modern, efficient tool in the banking sector.</a:t>
              </a:r>
              <a:endParaRPr lang="en-US" sz="1100"/>
            </a:p>
          </p:txBody>
        </p:sp>
        <p:sp>
          <p:nvSpPr>
            <p:cNvPr name="TextBox 9" id="9"/>
            <p:cNvSpPr txBox="true"/>
            <p:nvPr/>
          </p:nvSpPr>
          <p:spPr>
            <a:xfrm>
              <a:off x="1304" y="2888"/>
              <a:ext cx="7937" cy="850"/>
            </a:xfrm>
            <a:prstGeom prst="rect">
              <a:avLst/>
            </a:prstGeom>
            <a:noFill/>
          </p:spPr>
          <p:txBody>
            <a:bodyPr anchor="ctr" rtlCol="false" vert="horz" wrap="square" tIns="46990" lIns="90170" bIns="46990" rIns="90170">
              <a:normAutofit/>
            </a:bodyPr>
            <a:lstStyle/>
            <a:p>
              <a:pPr algn="l" fontAlgn="auto" indent="0" marL="0">
                <a:lnSpc>
                  <a:spcPct val="110000"/>
                </a:lnSpc>
                <a:defRPr/>
              </a:pPr>
              <a:r>
                <a:rPr lang="en-US" b="true" i="false" sz="2000" baseline="0" u="none">
                  <a:solidFill>
                    <a:srgbClr val="007C98"/>
                  </a:solidFill>
                  <a:latin typeface="思源黑体 Normal"/>
                  <a:ea typeface="思源黑体 Normal"/>
                </a:rPr>
                <a:t>A Strategic Step Forward in Banking Technology</a:t>
              </a:r>
              <a:endParaRPr lang="en-US" sz="1100"/>
            </a:p>
          </p:txBody>
        </p:sp>
      </p:grpSp>
      <p:sp>
        <p:nvSpPr>
          <p:cNvPr name="Freeform 10" id="10"/>
          <p:cNvSpPr/>
          <p:nvPr/>
        </p:nvSpPr>
        <p:spPr>
          <a:xfrm>
            <a:off x="0" y="320040"/>
            <a:ext cx="685165" cy="718820"/>
          </a:xfrm>
          <a:custGeom>
            <a:avLst/>
            <a:gdLst/>
            <a:ahLst/>
            <a:cxnLst/>
            <a:rect r="r" b="b" t="t" l="l"/>
            <a:pathLst>
              <a:path w="461590" h="406400" stroke="true" fill="norm" extrusionOk="true">
                <a:moveTo>
                  <a:pt x="258390" y="0"/>
                </a:moveTo>
                <a:lnTo>
                  <a:pt x="0" y="0"/>
                </a:lnTo>
                <a:lnTo>
                  <a:pt x="0" y="406400"/>
                </a:lnTo>
                <a:lnTo>
                  <a:pt x="258390" y="406400"/>
                </a:lnTo>
                <a:lnTo>
                  <a:pt x="461590" y="203200"/>
                </a:lnTo>
                <a:lnTo>
                  <a:pt x="258390" y="0"/>
                </a:lnTo>
                <a:close/>
              </a:path>
            </a:pathLst>
          </a:custGeom>
          <a:solidFill>
            <a:srgbClr val="007C98"/>
          </a:solidFill>
        </p:spPr>
      </p:sp>
      <p:sp>
        <p:nvSpPr>
          <p:cNvPr name="TextBox 11" id="11"/>
          <p:cNvSpPr txBox="true"/>
          <p:nvPr/>
        </p:nvSpPr>
        <p:spPr>
          <a:xfrm>
            <a:off x="781050" y="319405"/>
            <a:ext cx="10800000" cy="720090"/>
          </a:xfrm>
          <a:prstGeom prst="rect">
            <a:avLst/>
          </a:prstGeom>
        </p:spPr>
        <p:txBody>
          <a:bodyPr anchor="ctr" rtlCol="false" vert="horz" wrap="square" tIns="46990" lIns="90170" bIns="46990" rIns="90170">
            <a:normAutofit/>
          </a:bodyPr>
          <a:lstStyle/>
          <a:p>
            <a:pPr algn="l" fontAlgn="auto" indent="0" marL="0">
              <a:lnSpc>
                <a:spcPct val="100000"/>
              </a:lnSpc>
              <a:defRPr/>
            </a:pPr>
            <a:r>
              <a:rPr lang="en-US" b="true" i="false" sz="3200" baseline="0" u="none">
                <a:ln/>
                <a:solidFill>
                  <a:srgbClr val="007C98"/>
                </a:solidFill>
                <a:latin typeface="思源黑体 Normal"/>
                <a:ea typeface="思源黑体 Normal"/>
              </a:rPr>
              <a:t>Transforming CADM with Natural Language Navigation</a:t>
            </a:r>
            <a:endParaRPr lang="en-US" sz="1100"/>
          </a:p>
        </p:txBody>
      </p:sp>
      <p:sp>
        <p:nvSpPr>
          <p:cNvPr name="AutoShape 12" id="12"/>
          <p:cNvSpPr/>
          <p:nvPr/>
        </p:nvSpPr>
        <p:spPr>
          <a:xfrm>
            <a:off x="6172573" y="771847"/>
            <a:ext cx="5538415" cy="5538415"/>
          </a:xfrm>
          <a:prstGeom prst="ellipse">
            <a:avLst/>
          </a:prstGeom>
          <a:noFill/>
          <a:ln w="9525">
            <a:solidFill>
              <a:schemeClr val="accent1"/>
            </a:solidFill>
          </a:ln>
        </p:spPr>
        <p:txBody>
          <a:bodyPr vert="horz" anchor="ctr" tIns="45720" lIns="91440" bIns="45720" rIns="91440"/>
          <a:p>
            <a:pPr algn="ctr" marL="0"/>
          </a:p>
        </p:txBody>
      </p:sp>
      <p:sp>
        <p:nvSpPr>
          <p:cNvPr name="AutoShape 13" id="13"/>
          <p:cNvSpPr/>
          <p:nvPr/>
        </p:nvSpPr>
        <p:spPr>
          <a:xfrm>
            <a:off x="6538384" y="1497281"/>
            <a:ext cx="582202" cy="582202"/>
          </a:xfrm>
          <a:prstGeom prst="ellipse">
            <a:avLst/>
          </a:prstGeom>
          <a:solidFill>
            <a:srgbClr val="007C98"/>
          </a:solidFill>
          <a:ln>
            <a:noFill/>
          </a:ln>
        </p:spPr>
        <p:txBody>
          <a:bodyPr vert="horz" anchor="ctr" tIns="45720" lIns="91440" bIns="45720" rIns="91440"/>
          <a:p>
            <a:pPr algn="ctr" marL="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blipFill rotWithShape="true">
          <a:blip r:embed="rId2"/>
          <a:stretch>
            <a:fillRect t="0" l="0" b="0" r="0"/>
          </a:stretch>
        </a:blipFill>
      </p:bgPr>
    </p:bg>
    <p:spTree>
      <p:nvGrpSpPr>
        <p:cNvPr id="1" name=""/>
        <p:cNvGrpSpPr/>
        <p:nvPr/>
      </p:nvGrpSpPr>
      <p:grpSpPr>
        <a:xfrm>
          <a:off x="0" y="0"/>
          <a:ext cx="0" cy="0"/>
          <a:chOff x="0" y="0"/>
          <a:chExt cx="0" cy="0"/>
        </a:xfrm>
      </p:grpSpPr>
      <p:sp>
        <p:nvSpPr>
          <p:cNvPr name="TextBox 2" id="2"/>
          <p:cNvSpPr txBox="true"/>
          <p:nvPr/>
        </p:nvSpPr>
        <p:spPr>
          <a:xfrm>
            <a:off x="280670" y="1048258"/>
            <a:ext cx="7779336" cy="2725180"/>
          </a:xfrm>
          <a:prstGeom prst="rect">
            <a:avLst/>
          </a:prstGeom>
          <a:noFill/>
        </p:spPr>
        <p:txBody>
          <a:bodyPr anchor="b" rtlCol="false" vert="horz" wrap="square" tIns="0" lIns="0" bIns="0" rIns="0">
            <a:noAutofit/>
          </a:bodyPr>
          <a:lstStyle/>
          <a:p>
            <a:pPr algn="l" fontAlgn="auto" indent="0" marL="0">
              <a:lnSpc>
                <a:spcPct val="100000"/>
              </a:lnSpc>
              <a:defRPr/>
            </a:pPr>
            <a:r>
              <a:rPr lang="zh-CN" b="true" i="false" sz="5000" spc="200" baseline="0" u="none" altLang="en-US">
                <a:solidFill>
                  <a:srgbClr val="007C98">
                    <a:alpha val="50000"/>
                  </a:srgbClr>
                </a:solidFill>
                <a:latin typeface="思源黑体 Medium"/>
                <a:ea typeface="思源黑体 Medium"/>
              </a:rPr>
              <a:t>Report concluded.</a:t>
            </a:r>
            <a:endParaRPr lang="en-US" sz="1100"/>
          </a:p>
          <a:p>
            <a:pPr fontAlgn="auto" algn="l" indent="0" marL="0">
              <a:lnSpc>
                <a:spcPct val="110000"/>
              </a:lnSpc>
            </a:pPr>
            <a:r>
              <a:rPr lang="zh-CN" b="true" i="false" sz="6600" spc="200" baseline="0" u="none" altLang="en-US">
                <a:solidFill>
                  <a:schemeClr val="accent2"/>
                </a:solidFill>
                <a:latin typeface="思源黑体 Medium"/>
                <a:ea typeface="思源黑体 Medium"/>
              </a:rPr>
              <a:t>Thank you for your listening!</a:t>
            </a:r>
          </a:p>
        </p:txBody>
      </p:sp>
      <p:grpSp>
        <p:nvGrpSpPr>
          <p:cNvPr name="Group 3" id="3"/>
          <p:cNvGrpSpPr/>
          <p:nvPr/>
        </p:nvGrpSpPr>
        <p:grpSpPr>
          <a:xfrm>
            <a:off x="359410" y="5382260"/>
            <a:ext cx="6159500" cy="368300"/>
            <a:chOff x="2212" y="7647"/>
            <a:chExt cx="9700" cy="580"/>
          </a:xfrm>
        </p:grpSpPr>
        <p:sp>
          <p:nvSpPr>
            <p:cNvPr name="TextBox 4" id="4"/>
            <p:cNvSpPr txBox="true"/>
            <p:nvPr/>
          </p:nvSpPr>
          <p:spPr>
            <a:xfrm>
              <a:off x="2625" y="7647"/>
              <a:ext cx="4388" cy="580"/>
            </a:xfrm>
            <a:prstGeom prst="rect">
              <a:avLst/>
            </a:prstGeom>
            <a:noFill/>
          </p:spPr>
          <p:txBody>
            <a:bodyPr anchor="ctr" rtlCol="false" vert="horz" wrap="square" tIns="45720" lIns="91440" bIns="45720" rIns="91440">
              <a:noAutofit/>
            </a:bodyPr>
            <a:lstStyle/>
            <a:p>
              <a:pPr algn="l" marL="0">
                <a:defRPr/>
              </a:pPr>
              <a:r>
                <a:rPr lang="zh-CN" b="false" i="false" sz="1800" baseline="0" u="none" altLang="en-US">
                  <a:solidFill>
                    <a:srgbClr val="2F2F2F"/>
                  </a:solidFill>
                  <a:latin typeface="思源黑体 Normal"/>
                  <a:ea typeface="思源黑体 Normal"/>
                </a:rPr>
                <a:t>Reporter:</a:t>
              </a:r>
              <a:r>
                <a:rPr lang="en-US" b="false" i="false" sz="1800" baseline="0" u="none">
                  <a:solidFill>
                    <a:srgbClr val="2F2F2F"/>
                  </a:solidFill>
                  <a:latin typeface="思源黑体 Normal"/>
                  <a:ea typeface="思源黑体 Normal"/>
                </a:rPr>
                <a:t>XXX</a:t>
              </a:r>
              <a:endParaRPr lang="en-US" sz="1100"/>
            </a:p>
          </p:txBody>
        </p:sp>
        <p:sp>
          <p:nvSpPr>
            <p:cNvPr name="AutoShape 5" id="5"/>
            <p:cNvSpPr/>
            <p:nvPr/>
          </p:nvSpPr>
          <p:spPr>
            <a:xfrm>
              <a:off x="7303" y="7647"/>
              <a:ext cx="4609" cy="580"/>
            </a:xfrm>
            <a:prstGeom prst="rect">
              <a:avLst/>
            </a:prstGeom>
            <a:noFill/>
          </p:spPr>
          <p:txBody>
            <a:bodyPr vert="horz" anchor="ctr" wrap="square" tIns="45720" lIns="91440" bIns="45720" rIns="91440">
              <a:noAutofit/>
            </a:bodyPr>
            <a:p>
              <a:pPr algn="l" marL="0"/>
              <a:r>
                <a:rPr lang="zh-CN" b="false" i="false" sz="1800" baseline="0" u="none" altLang="en-US">
                  <a:solidFill>
                    <a:srgbClr val="2F2F2F"/>
                  </a:solidFill>
                  <a:latin typeface="思源黑体 Normal"/>
                  <a:ea typeface="思源黑体 Normal"/>
                </a:rPr>
                <a:t>Date:</a:t>
              </a:r>
              <a:r>
                <a:rPr lang="en-US" b="false" i="false" sz="1800" baseline="0" u="none">
                  <a:solidFill>
                    <a:srgbClr val="2F2F2F"/>
                  </a:solidFill>
                  <a:latin typeface="思源黑体 Normal"/>
                  <a:ea typeface="思源黑体 Normal"/>
                </a:rPr>
                <a:t>20XX-</a:t>
              </a:r>
              <a:r>
                <a:rPr lang="en-US" b="false" i="false" sz="1800" baseline="0" u="none">
                  <a:solidFill>
                    <a:srgbClr val="2F2F2F"/>
                  </a:solidFill>
                  <a:latin typeface="思源黑体 Normal"/>
                  <a:ea typeface="思源黑体 Normal"/>
                </a:rPr>
                <a:t>XX-XX</a:t>
              </a:r>
            </a:p>
          </p:txBody>
        </p:sp>
        <p:sp>
          <p:nvSpPr>
            <p:cNvPr name="AutoShape 6" id="6"/>
            <p:cNvSpPr/>
            <p:nvPr/>
          </p:nvSpPr>
          <p:spPr>
            <a:xfrm>
              <a:off x="2212" y="7731"/>
              <a:ext cx="413" cy="413"/>
            </a:xfrm>
            <a:prstGeom prst="ellipse">
              <a:avLst/>
            </a:prstGeom>
            <a:solidFill>
              <a:srgbClr val="007C99"/>
            </a:solidFill>
            <a:ln>
              <a:noFill/>
            </a:ln>
          </p:spPr>
          <p:txBody>
            <a:bodyPr vert="horz" anchor="ctr" tIns="45720" lIns="91440" bIns="45720" rIns="91440"/>
            <a:p>
              <a:pPr algn="ctr" marL="0"/>
            </a:p>
          </p:txBody>
        </p:sp>
        <p:sp>
          <p:nvSpPr>
            <p:cNvPr name="AutoShape 7" id="7"/>
            <p:cNvSpPr/>
            <p:nvPr/>
          </p:nvSpPr>
          <p:spPr>
            <a:xfrm>
              <a:off x="6907" y="7731"/>
              <a:ext cx="413" cy="413"/>
            </a:xfrm>
            <a:prstGeom prst="ellipse">
              <a:avLst/>
            </a:prstGeom>
            <a:solidFill>
              <a:srgbClr val="007C99"/>
            </a:solidFill>
            <a:ln>
              <a:noFill/>
            </a:ln>
          </p:spPr>
          <p:txBody>
            <a:bodyPr vert="horz" anchor="ctr" tIns="45720" lIns="91440" bIns="45720" rIns="91440"/>
            <a:p>
              <a:pPr algn="ctr" marL="0"/>
            </a:p>
          </p:txBody>
        </p:sp>
      </p:grpSp>
      <p:cxnSp>
        <p:nvCxnSpPr>
          <p:cNvPr name="Connector 8" id="8"/>
          <p:cNvCxnSpPr/>
          <p:nvPr/>
        </p:nvCxnSpPr>
        <p:spPr>
          <a:xfrm>
            <a:off x="341630" y="4395470"/>
            <a:ext cx="6573520" cy="0"/>
          </a:xfrm>
          <a:prstGeom prst="line">
            <a:avLst/>
          </a:prstGeom>
          <a:ln w="9525">
            <a:solidFill>
              <a:srgbClr val="007C99"/>
            </a:solidFill>
          </a:ln>
        </p:spPr>
      </p:cxnSp>
      <p:sp>
        <p:nvSpPr>
          <p:cNvPr name="AutoShape 9" id="9"/>
          <p:cNvSpPr/>
          <p:nvPr/>
        </p:nvSpPr>
        <p:spPr>
          <a:xfrm>
            <a:off x="379730" y="124460"/>
            <a:ext cx="1658620" cy="444500"/>
          </a:xfrm>
          <a:prstGeom prst="snip2DiagRect">
            <a:avLst/>
          </a:prstGeom>
          <a:solidFill>
            <a:srgbClr val="007C99"/>
          </a:solidFill>
          <a:ln w="19050">
            <a:solidFill>
              <a:srgbClr val="007C99"/>
            </a:solidFill>
          </a:ln>
        </p:spPr>
        <p:txBody>
          <a:bodyPr vert="horz" anchor="ctr" tIns="45720" lIns="91440" bIns="45720" rIns="91440"/>
          <a:p>
            <a:pPr algn="l" marL="0"/>
            <a:r>
              <a:rPr lang="en-US" b="true" i="false" sz="1800" baseline="0" u="none">
                <a:solidFill>
                  <a:schemeClr val="bg1"/>
                </a:solidFill>
                <a:latin typeface="思源黑体 Medium"/>
                <a:ea typeface="思源黑体 Medium"/>
              </a:rPr>
              <a:t>YOUR LOGO</a:t>
            </a:r>
          </a:p>
        </p:txBody>
      </p:sp>
      <p:pic>
        <p:nvPicPr>
          <p:cNvPr name="image3.png" id="10"/>
          <p:cNvPicPr>
            <a:picLocks noChangeAspect="true"/>
          </p:cNvPicPr>
          <p:nvPr/>
        </p:nvPicPr>
        <p:blipFill>
          <a:blip r:embed="rId3"/>
          <a:stretch>
            <a:fillRect t="0" l="0" b="0" r="0"/>
          </a:stretch>
        </p:blipFill>
        <p:spPr>
          <a:xfrm>
            <a:off x="11499215" y="5161280"/>
            <a:ext cx="473075" cy="1536700"/>
          </a:xfrm>
          <a:prstGeom prst="rect">
            <a:avLst/>
          </a:prstGeom>
        </p:spPr>
      </p:pic>
    </p:spTree>
  </p:cSld>
  <p:clrMapOvr>
    <a:masterClrMapping/>
  </p:clrMapOvr>
  <p:transition spd="fast" advClick="false"/>
</p:sld>
</file>

<file path=ppt/theme/theme1.xml><?xml version="1.0" encoding="utf-8"?>
<a:theme xmlns:a="http://schemas.openxmlformats.org/drawingml/2006/main" name="Office Theme">
  <a:themeElements>
    <a:clrScheme name="Office">
      <a:dk1>
        <a:srgbClr val="262626"/>
      </a:dk1>
      <a:lt1>
        <a:srgbClr val="FFFFFF"/>
      </a:lt1>
      <a:dk2>
        <a:srgbClr val="007C98"/>
      </a:dk2>
      <a:lt2>
        <a:srgbClr val="FFFFFF"/>
      </a:lt2>
      <a:accent1>
        <a:srgbClr val="007C98"/>
      </a:accent1>
      <a:accent2>
        <a:srgbClr val="007C98"/>
      </a:accent2>
      <a:accent3>
        <a:srgbClr val="007C98"/>
      </a:accent3>
      <a:accent4>
        <a:srgbClr val="007C98"/>
      </a:accent4>
      <a:accent5>
        <a:srgbClr val="007C98"/>
      </a:accent5>
      <a:accent6>
        <a:srgbClr val="007C98"/>
      </a:accent6>
      <a:hlink>
        <a:srgbClr val="262626"/>
      </a:hlink>
      <a:folHlink>
        <a:srgbClr val="262626"/>
      </a:folHlink>
    </a:clrScheme>
    <a:fontScheme name="Office">
      <a:majorFont>
        <a:latin typeface="思源黑体 Normal"/>
        <a:ea typeface="思源黑体 Normal"/>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思源黑体 Normal"/>
        <a:ea typeface="思源黑体 Normal"/>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全屏显示(4:3)</PresentationFormat>
  <Paragraphs>0</Paragraphs>
  <Slides>27</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0</vt:i4>
      </vt:variant>
    </vt:vector>
  </HeadingPairs>
  <TitlesOfParts>
    <vt:vector size="2" baseType="lpstr">
      <vt:lpstr>Arial</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2026-04-21T06:59:56Z</dcterms:created>
  <cp:lastModifiedBy>user</cp:lastModifiedBy>
  <dcterms:modified xsi:type="dcterms:W3CDTF">2026-04-21T06:59:56Z</dcterms:modified>
  <cp:revision>1</cp:revision>
</cp:coreProperties>
</file>

<file path=docProps/custom.xml><?xml version="1.0" encoding="utf-8"?>
<Properties xmlns="http://schemas.openxmlformats.org/officeDocument/2006/custom-properties" xmlns:vt="http://schemas.openxmlformats.org/officeDocument/2006/docPropsVTypes">
  <property pid="2" fmtid="{D5CDD505-2E9C-101B-9397-08002B2CF9AE}" name="copyright">
    <vt:lpwstr>https://docmee.cn</vt:lpwstr>
  </property>
  <property pid="3" fmtid="{D5CDD505-2E9C-101B-9397-08002B2CF9AE}" name="developer">
    <vt:lpwstr>https://github.com/veasion</vt:lpwstr>
  </property>
  <property pid="4" fmtid="{D5CDD505-2E9C-101B-9397-08002B2CF9AE}" name="AIGC">
    <vt:lpwstr>{"ContentPropagator":"文多多","Label":"1","ReservedCode1":"1776754796179","ProduceID":"wenduoduo-pptx-1776754796179","ReservedCode2":"1776754796179","PropagateID":"wenduoduo-pptx1776754796179","ContentProducer":"文多多"}</vt:lpwstr>
  </property>
</Properties>
</file>